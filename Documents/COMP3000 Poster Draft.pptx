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4"/>
  </p:sldMasterIdLst>
  <p:notesMasterIdLst>
    <p:notesMasterId r:id="rId6"/>
  </p:notesMasterIdLst>
  <p:handoutMasterIdLst>
    <p:handoutMasterId r:id="rId7"/>
  </p:handoutMasterIdLst>
  <p:sldIdLst>
    <p:sldId id="261" r:id="rId5"/>
  </p:sldIdLst>
  <p:sldSz cx="43891200" cy="32918400"/>
  <p:notesSz cx="6858000" cy="9144000"/>
  <p:defaultTextStyle>
    <a:defPPr>
      <a:defRPr lang="en-US"/>
    </a:defPPr>
    <a:lvl1pPr marL="0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1pPr>
    <a:lvl2pPr marL="457089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2pPr>
    <a:lvl3pPr marL="914179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3pPr>
    <a:lvl4pPr marL="1371268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4pPr>
    <a:lvl5pPr marL="1828356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5pPr>
    <a:lvl6pPr marL="2285446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6pPr>
    <a:lvl7pPr marL="2742535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7pPr>
    <a:lvl8pPr marL="3199624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8pPr>
    <a:lvl9pPr marL="3656713" algn="l" defTabSz="914179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6496" userDrawn="1">
          <p15:clr>
            <a:srgbClr val="A4A3A4"/>
          </p15:clr>
        </p15:guide>
        <p15:guide id="2" orient="horz" pos="8386" userDrawn="1">
          <p15:clr>
            <a:srgbClr val="A4A3A4"/>
          </p15:clr>
        </p15:guide>
        <p15:guide id="3" pos="13824" userDrawn="1">
          <p15:clr>
            <a:srgbClr val="A4A3A4"/>
          </p15:clr>
        </p15:guide>
        <p15:guide id="4" pos="14260" userDrawn="1">
          <p15:clr>
            <a:srgbClr val="A4A3A4"/>
          </p15:clr>
        </p15:guide>
        <p15:guide id="5" orient="horz" pos="192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79"/>
    <a:srgbClr val="176691"/>
    <a:srgbClr val="2D8CB4"/>
    <a:srgbClr val="283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22" autoAdjust="0"/>
  </p:normalViewPr>
  <p:slideViewPr>
    <p:cSldViewPr snapToGrid="0">
      <p:cViewPr varScale="1">
        <p:scale>
          <a:sx n="23" d="100"/>
          <a:sy n="23" d="100"/>
        </p:scale>
        <p:origin x="960" y="126"/>
      </p:cViewPr>
      <p:guideLst>
        <p:guide pos="26496"/>
        <p:guide orient="horz" pos="8386"/>
        <p:guide pos="13824"/>
        <p:guide pos="14260"/>
        <p:guide orient="horz" pos="192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9A345A-D150-6F42-9AE3-983B8A00A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1EA3F-CBB6-6E61-01CA-34670A9B4E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2C23D-C45B-4A2C-BF87-5B14E866604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59037-8CF4-90C0-6B9C-35B63D34FB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44CA2-FB0D-4475-A90A-20281DB527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E4A9B5-938A-4D03-A740-177C6F208A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05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40DAB-E1CF-47C5-9FDC-D77F8612658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0DA60-3614-4ABE-ADAE-8D7371266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11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0DA60-3614-4ABE-ADAE-8D73712662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53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5"/>
            <a:ext cx="32918400" cy="1060508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20864515"/>
            <a:ext cx="32918400" cy="5121072"/>
          </a:xfrm>
        </p:spPr>
        <p:txBody>
          <a:bodyPr anchor="t">
            <a:normAutofit/>
          </a:bodyPr>
          <a:lstStyle>
            <a:lvl1pPr marL="0" indent="0" algn="ctr">
              <a:buNone/>
              <a:defRPr sz="2133" cap="all" spc="400" baseline="0"/>
            </a:lvl1pPr>
            <a:lvl2pPr marL="609585" indent="0" algn="ctr">
              <a:buNone/>
              <a:defRPr sz="2133"/>
            </a:lvl2pPr>
            <a:lvl3pPr marL="1219170" indent="0" algn="ctr">
              <a:buNone/>
              <a:defRPr sz="2133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38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138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29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250" y="7270505"/>
            <a:ext cx="30902990" cy="15066600"/>
          </a:xfrm>
        </p:spPr>
        <p:txBody>
          <a:bodyPr anchor="b">
            <a:normAutofit/>
          </a:bodyPr>
          <a:lstStyle>
            <a:lvl1pPr>
              <a:defRPr sz="4800" cap="all" spc="4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7251" y="23826650"/>
            <a:ext cx="30902994" cy="5403672"/>
          </a:xfrm>
        </p:spPr>
        <p:txBody>
          <a:bodyPr>
            <a:normAutofit/>
          </a:bodyPr>
          <a:lstStyle>
            <a:lvl1pPr marL="0" indent="0">
              <a:buNone/>
              <a:defRPr sz="2133" cap="all" spc="400" baseline="0">
                <a:solidFill>
                  <a:schemeClr val="tx2"/>
                </a:solidFill>
              </a:defRPr>
            </a:lvl1pPr>
            <a:lvl2pPr marL="60958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322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0168" y="10364042"/>
            <a:ext cx="17918831" cy="1928537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782209" y="10364042"/>
            <a:ext cx="17948826" cy="1928537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130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855" y="2892821"/>
            <a:ext cx="37545491" cy="36908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2856" y="8142360"/>
            <a:ext cx="17868737" cy="3108960"/>
          </a:xfrm>
        </p:spPr>
        <p:txBody>
          <a:bodyPr anchor="b">
            <a:noAutofit/>
          </a:bodyPr>
          <a:lstStyle>
            <a:lvl1pPr marL="0" indent="0">
              <a:buNone/>
              <a:defRPr sz="1867" b="1" cap="all" spc="400" baseline="0"/>
            </a:lvl1pPr>
            <a:lvl2pPr marL="609585" indent="0">
              <a:buNone/>
              <a:defRPr sz="1867" b="1"/>
            </a:lvl2pPr>
            <a:lvl3pPr marL="1219170" indent="0">
              <a:buNone/>
              <a:defRPr sz="1867" b="1"/>
            </a:lvl3pPr>
            <a:lvl4pPr marL="1828754" indent="0">
              <a:buNone/>
              <a:defRPr sz="1867" b="1"/>
            </a:lvl4pPr>
            <a:lvl5pPr marL="2438339" indent="0">
              <a:buNone/>
              <a:defRPr sz="1867" b="1"/>
            </a:lvl5pPr>
            <a:lvl6pPr marL="3047924" indent="0">
              <a:buNone/>
              <a:defRPr sz="1867" b="1"/>
            </a:lvl6pPr>
            <a:lvl7pPr marL="3657509" indent="0">
              <a:buNone/>
              <a:defRPr sz="1867" b="1"/>
            </a:lvl7pPr>
            <a:lvl8pPr marL="4267093" indent="0">
              <a:buNone/>
              <a:defRPr sz="1867" b="1"/>
            </a:lvl8pPr>
            <a:lvl9pPr marL="4876678" indent="0">
              <a:buNone/>
              <a:defRPr sz="1867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2856" y="11251320"/>
            <a:ext cx="17868737" cy="18400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761609" y="8142360"/>
            <a:ext cx="17956735" cy="3108960"/>
          </a:xfrm>
        </p:spPr>
        <p:txBody>
          <a:bodyPr anchor="b">
            <a:noAutofit/>
          </a:bodyPr>
          <a:lstStyle>
            <a:lvl1pPr marL="0" indent="0">
              <a:buNone/>
              <a:defRPr sz="1867" b="1" cap="all" spc="400" baseline="0"/>
            </a:lvl1pPr>
            <a:lvl2pPr marL="609585" indent="0">
              <a:buNone/>
              <a:defRPr sz="1867" b="1"/>
            </a:lvl2pPr>
            <a:lvl3pPr marL="1219170" indent="0">
              <a:buNone/>
              <a:defRPr sz="1867" b="1"/>
            </a:lvl3pPr>
            <a:lvl4pPr marL="1828754" indent="0">
              <a:buNone/>
              <a:defRPr sz="1867" b="1"/>
            </a:lvl4pPr>
            <a:lvl5pPr marL="2438339" indent="0">
              <a:buNone/>
              <a:defRPr sz="1867" b="1"/>
            </a:lvl5pPr>
            <a:lvl6pPr marL="3047924" indent="0">
              <a:buNone/>
              <a:defRPr sz="1867" b="1"/>
            </a:lvl6pPr>
            <a:lvl7pPr marL="3657509" indent="0">
              <a:buNone/>
              <a:defRPr sz="1867" b="1"/>
            </a:lvl7pPr>
            <a:lvl8pPr marL="4267093" indent="0">
              <a:buNone/>
              <a:defRPr sz="1867" b="1"/>
            </a:lvl8pPr>
            <a:lvl9pPr marL="4876678" indent="0">
              <a:buNone/>
              <a:defRPr sz="1867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761609" y="11251320"/>
            <a:ext cx="17956735" cy="18400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8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30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46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9" y="3877767"/>
            <a:ext cx="13106567" cy="9900451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8435" y="3877764"/>
            <a:ext cx="21320960" cy="2425527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14403130"/>
            <a:ext cx="13106567" cy="13768013"/>
          </a:xfrm>
        </p:spPr>
        <p:txBody>
          <a:bodyPr anchor="b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36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3940231"/>
            <a:ext cx="13101523" cy="9900456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8890671" y="4414056"/>
            <a:ext cx="21988724" cy="2406534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39" y="14403130"/>
            <a:ext cx="13118000" cy="13768013"/>
          </a:xfrm>
        </p:spPr>
        <p:txBody>
          <a:bodyPr anchor="b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25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34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2842951"/>
            <a:ext cx="9464040" cy="268064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2842951"/>
            <a:ext cx="27843480" cy="268064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76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DBA6C6-E69A-4D0D-B0EA-57BAE62B15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891200" cy="32918400"/>
          </a:xfrm>
          <a:solidFill>
            <a:schemeClr val="tx1">
              <a:lumMod val="85000"/>
              <a:lumOff val="15000"/>
            </a:schemeClr>
          </a:solidFill>
        </p:spPr>
        <p:txBody>
          <a:bodyPr tIns="438912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225E7-242D-4A83-8AB4-AC0331CBCB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67841" y="2408397"/>
            <a:ext cx="40837658" cy="4129643"/>
          </a:xfrm>
        </p:spPr>
        <p:txBody>
          <a:bodyPr anchor="ctr">
            <a:normAutofit/>
          </a:bodyPr>
          <a:lstStyle>
            <a:lvl1pPr algn="l">
              <a:defRPr sz="12000" b="1" cap="all" baseline="0">
                <a:solidFill>
                  <a:schemeClr val="bg1"/>
                </a:solidFill>
                <a:latin typeface="+mn-lt"/>
                <a:ea typeface="HGGothicE" panose="020B0909000000000000" pitchFamily="49" charset="-128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CD960E4-D317-41EA-92FD-499084FF4C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7840" y="983655"/>
            <a:ext cx="20748568" cy="1061837"/>
          </a:xfrm>
        </p:spPr>
        <p:txBody>
          <a:bodyPr anchor="b">
            <a:noAutofit/>
          </a:bodyPr>
          <a:lstStyle>
            <a:lvl1pPr marL="0" indent="0" algn="l">
              <a:buNone/>
              <a:defRPr sz="24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3E762F53-9A25-025B-D42C-9213424CE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67841" y="6543440"/>
            <a:ext cx="22305818" cy="3595644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32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E22A2128-9C66-1516-3244-571876C4E9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67841" y="13132499"/>
            <a:ext cx="22305818" cy="5275377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FEC28B8-CC8A-6D86-7347-EFBF673382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0008" y="26743513"/>
            <a:ext cx="21751636" cy="4129641"/>
          </a:xfrm>
        </p:spPr>
        <p:txBody>
          <a:bodyPr anchor="b"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  <a:latin typeface="+mj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B7BA584-BA7A-37CA-7A32-4B5748139A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073658" y="26743513"/>
            <a:ext cx="18531840" cy="4129641"/>
          </a:xfrm>
        </p:spPr>
        <p:txBody>
          <a:bodyPr anchor="b">
            <a:no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2000" cap="all" baseline="0">
                <a:solidFill>
                  <a:schemeClr val="bg1"/>
                </a:solidFill>
                <a:latin typeface="+mn-lt"/>
                <a:cs typeface="Posterama" panose="020B0504020200020000" pitchFamily="34" charset="0"/>
              </a:defRPr>
            </a:lvl1pPr>
            <a:lvl2pPr marL="636177" indent="0" algn="ctr">
              <a:buNone/>
              <a:defRPr sz="2000">
                <a:solidFill>
                  <a:schemeClr val="bg1"/>
                </a:solidFill>
              </a:defRPr>
            </a:lvl2pPr>
            <a:lvl3pPr marL="1272355" indent="0" algn="ctr">
              <a:buNone/>
              <a:defRPr sz="2000">
                <a:solidFill>
                  <a:schemeClr val="bg1"/>
                </a:solidFill>
              </a:defRPr>
            </a:lvl3pPr>
            <a:lvl4pPr marL="1908532" indent="0" algn="ctr">
              <a:buNone/>
              <a:defRPr sz="2000">
                <a:solidFill>
                  <a:schemeClr val="bg1"/>
                </a:solidFill>
              </a:defRPr>
            </a:lvl4pPr>
            <a:lvl5pPr marL="2544710" indent="0" algn="ctr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</p:spTree>
    <p:extLst>
      <p:ext uri="{BB962C8B-B14F-4D97-AF65-F5344CB8AC3E}">
        <p14:creationId xmlns:p14="http://schemas.microsoft.com/office/powerpoint/2010/main" val="3925623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1256" userDrawn="1">
          <p15:clr>
            <a:srgbClr val="FBAE40"/>
          </p15:clr>
        </p15:guide>
        <p15:guide id="3" pos="263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2"/>
            <a:ext cx="43891200" cy="32928773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989" y="2823576"/>
            <a:ext cx="37619222" cy="60764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0166" y="10358326"/>
            <a:ext cx="37592813" cy="18738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0166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 cap="all" spc="4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76352" y="30510482"/>
            <a:ext cx="15471648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 cap="all" spc="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7998" y="30510482"/>
            <a:ext cx="1876345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67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58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0368" userDrawn="1">
          <p15:clr>
            <a:srgbClr val="F26B43"/>
          </p15:clr>
        </p15:guide>
        <p15:guide id="4" pos="13824" userDrawn="1">
          <p15:clr>
            <a:srgbClr val="F26B43"/>
          </p15:clr>
        </p15:guide>
        <p15:guide id="5" orient="horz" pos="18317" userDrawn="1">
          <p15:clr>
            <a:srgbClr val="F26B43"/>
          </p15:clr>
        </p15:guide>
        <p15:guide id="6" orient="horz" pos="56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fif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C7AC555-74AA-8F8F-BEF4-BD46BA411D55}"/>
              </a:ext>
            </a:extLst>
          </p:cNvPr>
          <p:cNvSpPr txBox="1"/>
          <p:nvPr/>
        </p:nvSpPr>
        <p:spPr>
          <a:xfrm>
            <a:off x="0" y="0"/>
            <a:ext cx="43892438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9600" b="1" dirty="0"/>
              <a:t>Smart Aqua: Fish Detection, Crop Extraction, and Visual Clustering</a:t>
            </a:r>
          </a:p>
          <a:p>
            <a:pPr algn="ctr"/>
            <a:r>
              <a:rPr lang="en-US" sz="4000" b="1" u="sng" dirty="0"/>
              <a:t>David Wilson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DF4053-B3FF-3CD2-79F9-0E61156C40B1}"/>
              </a:ext>
            </a:extLst>
          </p:cNvPr>
          <p:cNvSpPr txBox="1"/>
          <p:nvPr/>
        </p:nvSpPr>
        <p:spPr>
          <a:xfrm>
            <a:off x="41512" y="3632886"/>
            <a:ext cx="14245260" cy="7539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u="sng" dirty="0"/>
              <a:t>Introduction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Marine biodiversity monitoring traditionally relies on manual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annotation of underwater imagery, which is time-consuming and requires expert knowledge.</a:t>
            </a:r>
            <a:endParaRPr lang="en-US" dirty="0"/>
          </a:p>
          <a:p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Recent advances in AI allow marine organisms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to be detected automatically from underwater images.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However, most existing systems rely on fully supervised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classification, requiring large labelled datasets.</a:t>
            </a:r>
            <a:endParaRPr lang="en-US" dirty="0"/>
          </a:p>
          <a:p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This project explores whether unsupervised learning can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automatically group fish into clusters without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manual annotation.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EF9BD4-D3DA-BE01-785C-01F1BB5F477D}"/>
              </a:ext>
            </a:extLst>
          </p:cNvPr>
          <p:cNvSpPr txBox="1"/>
          <p:nvPr/>
        </p:nvSpPr>
        <p:spPr>
          <a:xfrm>
            <a:off x="37070" y="11461673"/>
            <a:ext cx="5810805" cy="131183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u="sng" dirty="0"/>
              <a:t>Project Aim</a:t>
            </a:r>
          </a:p>
          <a:p>
            <a:r>
              <a:rPr lang="en-US" sz="4000" dirty="0">
                <a:ea typeface="+mn-lt"/>
                <a:cs typeface="+mn-lt"/>
              </a:rPr>
              <a:t>The goal of this project is to develop an AI capable of automatically grouping fish images into visually similar clusters.</a:t>
            </a:r>
            <a:endParaRPr lang="en-US" dirty="0"/>
          </a:p>
          <a:p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Key objectives:</a:t>
            </a:r>
            <a:endParaRPr lang="en-US" dirty="0"/>
          </a:p>
          <a:p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• Detect fish in underwater images using YOLOv8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• Extract fish crops from detected bounding boxes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• Generate deep visual embeddings from each crop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• Cluster fish using unsupervised learning</a:t>
            </a:r>
            <a:endParaRPr lang="en-US" dirty="0"/>
          </a:p>
          <a:p>
            <a:endParaRPr lang="en-US" sz="1750" dirty="0"/>
          </a:p>
          <a:p>
            <a:endParaRPr lang="en-US" sz="1750" dirty="0"/>
          </a:p>
          <a:p>
            <a:endParaRPr lang="en-US" sz="1750" dirty="0"/>
          </a:p>
          <a:p>
            <a:endParaRPr lang="en-US" sz="1750" dirty="0"/>
          </a:p>
          <a:p>
            <a:endParaRPr lang="en-US" sz="1750" dirty="0"/>
          </a:p>
          <a:p>
            <a:endParaRPr lang="en-US" sz="1750" dirty="0"/>
          </a:p>
          <a:p>
            <a:endParaRPr lang="en-US" sz="17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065ED7-3379-F2BE-1DAA-B6E7A85A51C9}"/>
              </a:ext>
            </a:extLst>
          </p:cNvPr>
          <p:cNvSpPr txBox="1"/>
          <p:nvPr/>
        </p:nvSpPr>
        <p:spPr>
          <a:xfrm>
            <a:off x="14747331" y="13828343"/>
            <a:ext cx="14592502" cy="88331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800" b="1" u="sng" dirty="0"/>
              <a:t>Dataset</a:t>
            </a:r>
            <a:endParaRPr lang="en-US" sz="4000" b="1" u="sng" dirty="0"/>
          </a:p>
          <a:p>
            <a:r>
              <a:rPr lang="en-GB" sz="4000" dirty="0"/>
              <a:t>The dataset consists of underwater/aquarium fish imagery containing multiple fish appearances, sizes, and backgrounds.</a:t>
            </a:r>
            <a:endParaRPr lang="en-GB" sz="4000" b="1" dirty="0"/>
          </a:p>
          <a:p>
            <a:endParaRPr lang="en-US" sz="4000" dirty="0"/>
          </a:p>
          <a:p>
            <a:r>
              <a:rPr lang="en-US" sz="4000" dirty="0">
                <a:ea typeface="+mn-lt"/>
                <a:cs typeface="+mn-lt"/>
              </a:rPr>
              <a:t>Images include:</a:t>
            </a:r>
            <a:endParaRPr lang="en-US" sz="4000" dirty="0"/>
          </a:p>
          <a:p>
            <a:r>
              <a:rPr lang="en-US" sz="4000" dirty="0">
                <a:ea typeface="+mn-lt"/>
                <a:cs typeface="+mn-lt"/>
              </a:rPr>
              <a:t>• Diverse fish sizes and shapes</a:t>
            </a:r>
            <a:endParaRPr lang="en-US" sz="4000" dirty="0"/>
          </a:p>
          <a:p>
            <a:r>
              <a:rPr lang="en-US" sz="4000" dirty="0">
                <a:ea typeface="+mn-lt"/>
                <a:cs typeface="+mn-lt"/>
              </a:rPr>
              <a:t>• Varying lighting conditions</a:t>
            </a:r>
            <a:endParaRPr lang="en-US" sz="4000" dirty="0"/>
          </a:p>
          <a:p>
            <a:r>
              <a:rPr lang="en-US" sz="4000" dirty="0">
                <a:ea typeface="+mn-lt"/>
                <a:cs typeface="+mn-lt"/>
              </a:rPr>
              <a:t>• Complex backgrounds such as coral and rocks</a:t>
            </a:r>
            <a:endParaRPr lang="en-US" sz="4000" dirty="0"/>
          </a:p>
          <a:p>
            <a:endParaRPr lang="en-US" sz="4000" dirty="0"/>
          </a:p>
          <a:p>
            <a:r>
              <a:rPr lang="en-US" sz="4000" dirty="0">
                <a:ea typeface="+mn-lt"/>
                <a:cs typeface="+mn-lt"/>
              </a:rPr>
              <a:t>From the dataset: 80% training / 20% Validation</a:t>
            </a: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3240 training images after augmentation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272 </a:t>
            </a:r>
            <a:r>
              <a:rPr lang="en-US" sz="4000">
                <a:ea typeface="+mn-lt"/>
                <a:cs typeface="+mn-lt"/>
              </a:rPr>
              <a:t>validation images </a:t>
            </a: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Single “Fish” class used 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ea typeface="+mn-lt"/>
                <a:cs typeface="+mn-lt"/>
              </a:rPr>
              <a:t>10945 annotated fish instances</a:t>
            </a:r>
            <a:endParaRPr lang="en-US" sz="4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FBB5CA-9794-1164-D9A7-40C872AE363E}"/>
              </a:ext>
            </a:extLst>
          </p:cNvPr>
          <p:cNvSpPr txBox="1"/>
          <p:nvPr/>
        </p:nvSpPr>
        <p:spPr>
          <a:xfrm>
            <a:off x="14660007" y="3623011"/>
            <a:ext cx="14679826" cy="9907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u="sng" dirty="0"/>
              <a:t>Method</a:t>
            </a:r>
            <a:endParaRPr lang="en-US" sz="3800" b="1" u="sng" dirty="0"/>
          </a:p>
          <a:p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1. Fish Detection</a:t>
            </a:r>
            <a:endParaRPr lang="en-US" dirty="0"/>
          </a:p>
          <a:p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Fish are detected using the YOLOv8 object detection</a:t>
            </a:r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framework</a:t>
            </a:r>
            <a:endParaRPr lang="en-US" dirty="0"/>
          </a:p>
          <a:p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2. Crop Extraction</a:t>
            </a:r>
            <a:endParaRPr lang="en-US" dirty="0"/>
          </a:p>
          <a:p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Detected fish are extracted as individual image crops.</a:t>
            </a:r>
            <a:endParaRPr lang="en-US" dirty="0"/>
          </a:p>
          <a:p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3. Image Filtering</a:t>
            </a:r>
            <a:endParaRPr lang="en-US" dirty="0"/>
          </a:p>
          <a:p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Low-quality crops are removed based on:</a:t>
            </a:r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Minimum bounding box size, Image sharpness, and Aspect ratio constraints</a:t>
            </a:r>
            <a:endParaRPr lang="en-US" dirty="0"/>
          </a:p>
          <a:p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4. Feature Extraction</a:t>
            </a:r>
            <a:endParaRPr lang="en-US" dirty="0"/>
          </a:p>
          <a:p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Each crop is converted into a numerical feature</a:t>
            </a:r>
            <a:endParaRPr lang="en-US" dirty="0"/>
          </a:p>
          <a:p>
            <a:r>
              <a:rPr lang="en-US" sz="3800" dirty="0">
                <a:ea typeface="+mn-lt"/>
                <a:cs typeface="+mn-lt"/>
              </a:rPr>
              <a:t>representation using a pretrained AI.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9F34F-FC28-A733-CBB4-D9D1D49BD299}"/>
              </a:ext>
            </a:extLst>
          </p:cNvPr>
          <p:cNvSpPr txBox="1"/>
          <p:nvPr/>
        </p:nvSpPr>
        <p:spPr>
          <a:xfrm>
            <a:off x="29793429" y="12089693"/>
            <a:ext cx="14010728" cy="8217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u="sng" dirty="0"/>
              <a:t>Training Results</a:t>
            </a:r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  <a:p>
            <a:endParaRPr lang="en-US" sz="4000" b="1" u="sn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0310D9-B2A5-173F-27A9-BE6C5B4D82BA}"/>
              </a:ext>
            </a:extLst>
          </p:cNvPr>
          <p:cNvSpPr txBox="1"/>
          <p:nvPr/>
        </p:nvSpPr>
        <p:spPr>
          <a:xfrm>
            <a:off x="14747331" y="22953761"/>
            <a:ext cx="14614659" cy="93791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u="sng" dirty="0"/>
              <a:t>Challenges</a:t>
            </a:r>
            <a:endParaRPr lang="en-US" sz="4000" b="1" dirty="0"/>
          </a:p>
          <a:p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Background contamination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Bounding boxes sometimes contain large portions of</a:t>
            </a:r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background such as coral, rocks, or water.</a:t>
            </a:r>
            <a:endParaRPr lang="en-US" dirty="0"/>
          </a:p>
          <a:p>
            <a:endParaRPr lang="en-US" sz="1750" dirty="0"/>
          </a:p>
          <a:p>
            <a:r>
              <a:rPr lang="en-US" sz="4000" dirty="0"/>
              <a:t>Lighting variation</a:t>
            </a:r>
            <a:endParaRPr lang="en-US" sz="1750" dirty="0"/>
          </a:p>
          <a:p>
            <a:r>
              <a:rPr lang="en-US" sz="4000" dirty="0"/>
              <a:t>Underwater environments produce strong color shifts</a:t>
            </a:r>
            <a:endParaRPr lang="en-US" sz="1750" dirty="0"/>
          </a:p>
          <a:p>
            <a:r>
              <a:rPr lang="en-US" sz="4000" dirty="0"/>
              <a:t>that affect visual similarity between fish images.</a:t>
            </a:r>
            <a:endParaRPr lang="en-US" sz="1750" dirty="0"/>
          </a:p>
          <a:p>
            <a:endParaRPr lang="en-US" sz="4000" dirty="0"/>
          </a:p>
          <a:p>
            <a:r>
              <a:rPr lang="en-US" sz="4000" dirty="0"/>
              <a:t>Several iterations of</a:t>
            </a:r>
          </a:p>
          <a:p>
            <a:r>
              <a:rPr lang="en-US" sz="4000" dirty="0"/>
              <a:t> model training and</a:t>
            </a:r>
            <a:endParaRPr lang="en-US" dirty="0"/>
          </a:p>
          <a:p>
            <a:r>
              <a:rPr lang="en-US" sz="4000" dirty="0"/>
              <a:t> parameter tuning</a:t>
            </a:r>
            <a:endParaRPr lang="en-US" sz="1750" dirty="0"/>
          </a:p>
          <a:p>
            <a:r>
              <a:rPr lang="en-US" sz="4000" dirty="0"/>
              <a:t>were needed to </a:t>
            </a:r>
            <a:endParaRPr lang="en-US" dirty="0"/>
          </a:p>
          <a:p>
            <a:r>
              <a:rPr lang="en-US" sz="4000" dirty="0"/>
              <a:t>improve detection</a:t>
            </a:r>
            <a:endParaRPr lang="en-US" sz="1750" dirty="0"/>
          </a:p>
          <a:p>
            <a:r>
              <a:rPr lang="en-US" sz="4000" dirty="0"/>
              <a:t>Reliability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A8F131-CDA9-571D-C5B8-A4088F316373}"/>
              </a:ext>
            </a:extLst>
          </p:cNvPr>
          <p:cNvSpPr txBox="1"/>
          <p:nvPr/>
        </p:nvSpPr>
        <p:spPr>
          <a:xfrm>
            <a:off x="29793429" y="20427104"/>
            <a:ext cx="14010728" cy="7332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u="sng" dirty="0"/>
              <a:t>Conclusion</a:t>
            </a:r>
            <a:endParaRPr lang="en-US" sz="4000" dirty="0"/>
          </a:p>
          <a:p>
            <a:r>
              <a:rPr lang="en-US" sz="4000" dirty="0">
                <a:ea typeface="+mn-lt"/>
                <a:cs typeface="+mn-lt"/>
              </a:rPr>
              <a:t>This project demonstrates the feasibility of combining</a:t>
            </a:r>
            <a:endParaRPr lang="en-US" sz="4000" dirty="0"/>
          </a:p>
          <a:p>
            <a:r>
              <a:rPr lang="en-US" sz="4000" dirty="0">
                <a:ea typeface="+mn-lt"/>
                <a:cs typeface="+mn-lt"/>
              </a:rPr>
              <a:t>object detection with unsupervised learning to analyze</a:t>
            </a:r>
            <a:endParaRPr lang="en-US" sz="4000" dirty="0" err="1"/>
          </a:p>
          <a:p>
            <a:r>
              <a:rPr lang="en-US" sz="4000" dirty="0">
                <a:ea typeface="+mn-lt"/>
                <a:cs typeface="+mn-lt"/>
              </a:rPr>
              <a:t>underwater fish imagery.</a:t>
            </a:r>
            <a:br>
              <a:rPr lang="en-US" sz="4000" dirty="0">
                <a:ea typeface="+mn-lt"/>
                <a:cs typeface="+mn-lt"/>
              </a:rPr>
            </a:br>
            <a:r>
              <a:rPr lang="en-US" sz="1050" dirty="0">
                <a:ea typeface="+mn-lt"/>
                <a:cs typeface="+mn-lt"/>
              </a:rPr>
              <a:t> </a:t>
            </a:r>
            <a:endParaRPr lang="en-US" sz="4000" dirty="0"/>
          </a:p>
          <a:p>
            <a:r>
              <a:rPr lang="en-US" sz="4000" dirty="0">
                <a:ea typeface="+mn-lt"/>
                <a:cs typeface="+mn-lt"/>
              </a:rPr>
              <a:t>The developed pipeline successfully detects fish, extracts visual embeddings, and groups fish into clusters</a:t>
            </a:r>
          </a:p>
          <a:p>
            <a:r>
              <a:rPr lang="en-US" sz="4000" dirty="0">
                <a:ea typeface="+mn-lt"/>
                <a:cs typeface="+mn-lt"/>
              </a:rPr>
              <a:t>based on visual similarity.</a:t>
            </a:r>
            <a:endParaRPr lang="en-US" sz="4000" dirty="0"/>
          </a:p>
          <a:p>
            <a:endParaRPr lang="en-US" sz="1200" dirty="0"/>
          </a:p>
          <a:p>
            <a:r>
              <a:rPr lang="en-US" sz="4000" dirty="0">
                <a:ea typeface="+mn-lt"/>
                <a:cs typeface="+mn-lt"/>
              </a:rPr>
              <a:t>Although challenges remain in separating</a:t>
            </a:r>
          </a:p>
          <a:p>
            <a:r>
              <a:rPr lang="en-US" sz="4000" dirty="0">
                <a:ea typeface="+mn-lt"/>
                <a:cs typeface="+mn-lt"/>
              </a:rPr>
              <a:t>clusters precisely, the approach shows </a:t>
            </a:r>
          </a:p>
          <a:p>
            <a:r>
              <a:rPr lang="en-US" sz="4000" dirty="0">
                <a:ea typeface="+mn-lt"/>
                <a:cs typeface="+mn-lt"/>
              </a:rPr>
              <a:t>promise for automated marine biodiversity</a:t>
            </a:r>
          </a:p>
          <a:p>
            <a:r>
              <a:rPr lang="en-US" sz="4000" dirty="0">
                <a:ea typeface="+mn-lt"/>
                <a:cs typeface="+mn-lt"/>
              </a:rPr>
              <a:t> analysis.</a:t>
            </a:r>
            <a:endParaRPr lang="en-US" sz="4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53529C-EE48-7670-F57E-A67570BA2934}"/>
              </a:ext>
            </a:extLst>
          </p:cNvPr>
          <p:cNvSpPr txBox="1"/>
          <p:nvPr/>
        </p:nvSpPr>
        <p:spPr>
          <a:xfrm>
            <a:off x="29947229" y="27896536"/>
            <a:ext cx="13547362" cy="4889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u="sng" dirty="0"/>
              <a:t>Future Work</a:t>
            </a:r>
            <a:endParaRPr lang="en-US" sz="4000" b="1" u="sng" dirty="0"/>
          </a:p>
          <a:p>
            <a:r>
              <a:rPr lang="en-US" sz="4000" dirty="0">
                <a:ea typeface="+mn-lt"/>
                <a:cs typeface="+mn-lt"/>
              </a:rPr>
              <a:t>Several improvements could further enhance clustering</a:t>
            </a:r>
            <a:endParaRPr lang="en-US" dirty="0">
              <a:ea typeface="+mn-lt"/>
              <a:cs typeface="+mn-lt"/>
            </a:endParaRPr>
          </a:p>
          <a:p>
            <a:r>
              <a:rPr lang="en-US" sz="4000" dirty="0">
                <a:ea typeface="+mn-lt"/>
                <a:cs typeface="+mn-lt"/>
              </a:rPr>
              <a:t>performance.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sz="4000" dirty="0">
                <a:ea typeface="+mn-lt"/>
                <a:cs typeface="+mn-lt"/>
              </a:rPr>
              <a:t>• Self-supervised feature extractors such as DINOv2</a:t>
            </a:r>
            <a:endParaRPr lang="en-US" dirty="0">
              <a:ea typeface="+mn-lt"/>
              <a:cs typeface="+mn-lt"/>
            </a:endParaRPr>
          </a:p>
          <a:p>
            <a:r>
              <a:rPr lang="en-US" sz="4000" dirty="0">
                <a:ea typeface="+mn-lt"/>
                <a:cs typeface="+mn-lt"/>
              </a:rPr>
              <a:t>• Fish segmentation to remove background pixels</a:t>
            </a:r>
            <a:endParaRPr lang="en-US" dirty="0">
              <a:ea typeface="+mn-lt"/>
              <a:cs typeface="+mn-lt"/>
            </a:endParaRPr>
          </a:p>
          <a:p>
            <a:r>
              <a:rPr lang="en-US" sz="4000" dirty="0">
                <a:ea typeface="+mn-lt"/>
                <a:cs typeface="+mn-lt"/>
              </a:rPr>
              <a:t>• Color normalization for underwater imagery</a:t>
            </a:r>
            <a:endParaRPr lang="en-US" dirty="0">
              <a:ea typeface="+mn-lt"/>
              <a:cs typeface="+mn-lt"/>
            </a:endParaRPr>
          </a:p>
          <a:p>
            <a:r>
              <a:rPr lang="en-US" sz="4000" dirty="0">
                <a:ea typeface="+mn-lt"/>
                <a:cs typeface="+mn-lt"/>
              </a:rPr>
              <a:t>• Fine-tuning embeddings on marine datasets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FCE421-E822-9FEC-0C46-B8256B601246}"/>
              </a:ext>
            </a:extLst>
          </p:cNvPr>
          <p:cNvSpPr txBox="1"/>
          <p:nvPr/>
        </p:nvSpPr>
        <p:spPr>
          <a:xfrm>
            <a:off x="5619135" y="10530348"/>
            <a:ext cx="8649710" cy="222553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66FA00-6BBC-9FDB-BAFB-D71338444CEB}"/>
              </a:ext>
            </a:extLst>
          </p:cNvPr>
          <p:cNvSpPr txBox="1"/>
          <p:nvPr/>
        </p:nvSpPr>
        <p:spPr>
          <a:xfrm>
            <a:off x="29795484" y="3650044"/>
            <a:ext cx="13793445" cy="83878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u="sng" dirty="0"/>
              <a:t>Project Results</a:t>
            </a:r>
          </a:p>
          <a:p>
            <a:r>
              <a:rPr lang="en-US" sz="3800" dirty="0">
                <a:ea typeface="+mn-lt"/>
                <a:cs typeface="+mn-lt"/>
              </a:rPr>
              <a:t>The YOLOv8 detection model achieved impressive performance</a:t>
            </a:r>
            <a:endParaRPr lang="en-US" sz="3800" dirty="0"/>
          </a:p>
          <a:p>
            <a:r>
              <a:rPr lang="en-US" sz="3800" dirty="0">
                <a:ea typeface="+mn-lt"/>
                <a:cs typeface="+mn-lt"/>
              </a:rPr>
              <a:t>on the validation dataset.</a:t>
            </a:r>
            <a:endParaRPr lang="en-US" sz="3800" dirty="0"/>
          </a:p>
          <a:p>
            <a:endParaRPr lang="en-US" sz="3800" dirty="0"/>
          </a:p>
          <a:p>
            <a:r>
              <a:rPr lang="en-US" sz="3800" dirty="0">
                <a:ea typeface="+mn-lt"/>
                <a:cs typeface="+mn-lt"/>
              </a:rPr>
              <a:t>Example Detection metrics:</a:t>
            </a:r>
            <a:endParaRPr lang="en-US" sz="3800" dirty="0"/>
          </a:p>
          <a:p>
            <a:endParaRPr lang="en-US" sz="3800" dirty="0"/>
          </a:p>
          <a:p>
            <a:r>
              <a:rPr lang="en-US" sz="3800" dirty="0">
                <a:ea typeface="+mn-lt"/>
                <a:cs typeface="+mn-lt"/>
              </a:rPr>
              <a:t>Precision: 0.898</a:t>
            </a:r>
            <a:endParaRPr lang="en-US" sz="3800" dirty="0"/>
          </a:p>
          <a:p>
            <a:r>
              <a:rPr lang="en-US" sz="3800" dirty="0">
                <a:ea typeface="+mn-lt"/>
                <a:cs typeface="+mn-lt"/>
              </a:rPr>
              <a:t>Recall: 0.8</a:t>
            </a:r>
            <a:endParaRPr lang="en-US" sz="3800" dirty="0"/>
          </a:p>
          <a:p>
            <a:r>
              <a:rPr lang="en-US" sz="3800" dirty="0">
                <a:ea typeface="+mn-lt"/>
                <a:cs typeface="+mn-lt"/>
              </a:rPr>
              <a:t>mAP50: 0.871</a:t>
            </a:r>
            <a:endParaRPr lang="en-US" sz="3800" dirty="0"/>
          </a:p>
          <a:p>
            <a:r>
              <a:rPr lang="en-US" sz="3800" dirty="0">
                <a:ea typeface="+mn-lt"/>
                <a:cs typeface="+mn-lt"/>
              </a:rPr>
              <a:t>mAP50-95: 0.651</a:t>
            </a:r>
            <a:endParaRPr lang="en-US" sz="3800" dirty="0"/>
          </a:p>
          <a:p>
            <a:endParaRPr lang="en-US" sz="3800" dirty="0"/>
          </a:p>
          <a:p>
            <a:r>
              <a:rPr lang="en-US" sz="3800" dirty="0">
                <a:ea typeface="+mn-lt"/>
                <a:cs typeface="+mn-lt"/>
              </a:rPr>
              <a:t>These results indicate that the detector reliably</a:t>
            </a:r>
            <a:endParaRPr lang="en-US" sz="3800" dirty="0"/>
          </a:p>
          <a:p>
            <a:r>
              <a:rPr lang="en-US" sz="3800" dirty="0">
                <a:ea typeface="+mn-lt"/>
                <a:cs typeface="+mn-lt"/>
              </a:rPr>
              <a:t>identifies fish within underwater scenes and provides</a:t>
            </a:r>
            <a:endParaRPr lang="en-US" sz="3800" dirty="0"/>
          </a:p>
          <a:p>
            <a:r>
              <a:rPr lang="en-US" sz="3800" dirty="0">
                <a:ea typeface="+mn-lt"/>
                <a:cs typeface="+mn-lt"/>
              </a:rPr>
              <a:t>high-quality crops for clustering.</a:t>
            </a:r>
            <a:endParaRPr lang="en-US" sz="3800" dirty="0"/>
          </a:p>
        </p:txBody>
      </p:sp>
      <p:pic>
        <p:nvPicPr>
          <p:cNvPr id="49" name="Picture 4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26ECEE-BB4F-1F00-4AF1-EF1539BD9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4558" y="5467039"/>
            <a:ext cx="7000875" cy="463867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1961076-CB2F-2414-DF5C-F2D9D5263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32829" y="13045835"/>
            <a:ext cx="13493815" cy="6826729"/>
          </a:xfrm>
          <a:prstGeom prst="rect">
            <a:avLst/>
          </a:prstGeom>
        </p:spPr>
      </p:pic>
      <p:pic>
        <p:nvPicPr>
          <p:cNvPr id="45" name="Picture 44" descr="A group of fish swimming in water&#10;&#10;AI-generated content may be incorrect.">
            <a:extLst>
              <a:ext uri="{FF2B5EF4-FFF2-40B4-BE49-F238E27FC236}">
                <a16:creationId xmlns:a16="http://schemas.microsoft.com/office/drawing/2014/main" id="{B4819EDF-D6DD-884E-8256-9B592B84C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67162" y="20307327"/>
            <a:ext cx="4331743" cy="2239291"/>
          </a:xfrm>
          <a:prstGeom prst="rect">
            <a:avLst/>
          </a:prstGeom>
        </p:spPr>
      </p:pic>
      <p:pic>
        <p:nvPicPr>
          <p:cNvPr id="54" name="Picture 53" descr="A turtle swimming in the water&#10;&#10;AI-generated content may be incorrect.">
            <a:extLst>
              <a:ext uri="{FF2B5EF4-FFF2-40B4-BE49-F238E27FC236}">
                <a16:creationId xmlns:a16="http://schemas.microsoft.com/office/drawing/2014/main" id="{1081E0DB-E4F0-59D6-9E1C-AEFBC391BA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531" y="25391575"/>
            <a:ext cx="5009585" cy="2885793"/>
          </a:xfrm>
          <a:prstGeom prst="rect">
            <a:avLst/>
          </a:prstGeom>
        </p:spPr>
      </p:pic>
      <p:pic>
        <p:nvPicPr>
          <p:cNvPr id="55" name="Picture 54" descr="A fish swimming in the water&#10;&#10;AI-generated content may be incorrect.">
            <a:extLst>
              <a:ext uri="{FF2B5EF4-FFF2-40B4-BE49-F238E27FC236}">
                <a16:creationId xmlns:a16="http://schemas.microsoft.com/office/drawing/2014/main" id="{011D6F3E-7807-DA8C-9AA3-5F68B25399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24" y="28536355"/>
            <a:ext cx="5389829" cy="28857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F1E629-2796-882D-9508-D666B43F1F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16500" y="28277368"/>
            <a:ext cx="6701324" cy="37788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093822-C187-3ADA-6CB3-A32916812C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97280" y="23874361"/>
            <a:ext cx="3991649" cy="3768986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188687BB-2485-3966-4DAF-99926097DC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93200" y="1630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0122F2-7F8D-4A33-9B73-F4C00E0DA4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4529" y="10617972"/>
            <a:ext cx="8544039" cy="2225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08316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9965BD-26A5-4115-85B7-F70113F2497C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71af3243-3dd4-4a8d-8c0d-dd76da1f02a5"/>
    <ds:schemaRef ds:uri="230e9df3-be65-4c73-a93b-d1236ebd677e"/>
    <ds:schemaRef ds:uri="http://purl.org/dc/elements/1.1/"/>
    <ds:schemaRef ds:uri="http://purl.org/dc/dcmitype/"/>
    <ds:schemaRef ds:uri="http://schemas.microsoft.com/sharepoint/v3"/>
    <ds:schemaRef ds:uri="http://schemas.microsoft.com/office/2006/metadata/properties"/>
    <ds:schemaRef ds:uri="http://schemas.microsoft.com/office/infopath/2007/PartnerControls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C2FFAC1-03E1-49B6-AD9B-2938CECA88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B9E6A9-7819-4063-83F2-25CE73BED69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477</Words>
  <Application>Microsoft Office PowerPoint</Application>
  <PresentationFormat>Custom</PresentationFormat>
  <Paragraphs>122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Light</vt:lpstr>
      <vt:lpstr>Arial</vt:lpstr>
      <vt:lpstr>Calibri</vt:lpstr>
      <vt:lpstr>Walbaum Display</vt:lpstr>
      <vt:lpstr>BohoVogueVTI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(s) David Wilson 2</cp:lastModifiedBy>
  <cp:revision>368</cp:revision>
  <dcterms:created xsi:type="dcterms:W3CDTF">2026-03-15T18:38:42Z</dcterms:created>
  <dcterms:modified xsi:type="dcterms:W3CDTF">2026-05-03T18:06:38Z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