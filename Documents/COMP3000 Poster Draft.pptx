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36" r:id="rId4"/>
  </p:sldMasterIdLst>
  <p:notesMasterIdLst>
    <p:notesMasterId r:id="rId6"/>
  </p:notesMasterIdLst>
  <p:handoutMasterIdLst>
    <p:handoutMasterId r:id="rId7"/>
  </p:handoutMasterIdLst>
  <p:sldIdLst>
    <p:sldId id="261" r:id="rId5"/>
  </p:sldIdLst>
  <p:sldSz cx="43891200" cy="32918400"/>
  <p:notesSz cx="6858000" cy="9144000"/>
  <p:defaultTextStyle>
    <a:defPPr>
      <a:defRPr lang="en-US"/>
    </a:defPPr>
    <a:lvl1pPr marL="0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1pPr>
    <a:lvl2pPr marL="457089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2pPr>
    <a:lvl3pPr marL="914179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3pPr>
    <a:lvl4pPr marL="1371268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4pPr>
    <a:lvl5pPr marL="1828356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5pPr>
    <a:lvl6pPr marL="2285446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6pPr>
    <a:lvl7pPr marL="2742535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7pPr>
    <a:lvl8pPr marL="3199624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8pPr>
    <a:lvl9pPr marL="3656713" algn="l" defTabSz="914179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6496" userDrawn="1">
          <p15:clr>
            <a:srgbClr val="A4A3A4"/>
          </p15:clr>
        </p15:guide>
        <p15:guide id="2" orient="horz" pos="8386" userDrawn="1">
          <p15:clr>
            <a:srgbClr val="A4A3A4"/>
          </p15:clr>
        </p15:guide>
        <p15:guide id="3" pos="13824" userDrawn="1">
          <p15:clr>
            <a:srgbClr val="A4A3A4"/>
          </p15:clr>
        </p15:guide>
        <p15:guide id="4" pos="14260" userDrawn="1">
          <p15:clr>
            <a:srgbClr val="A4A3A4"/>
          </p15:clr>
        </p15:guide>
        <p15:guide id="5" orient="horz" pos="1926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79"/>
    <a:srgbClr val="176691"/>
    <a:srgbClr val="2D8CB4"/>
    <a:srgbClr val="2834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22" autoAdjust="0"/>
  </p:normalViewPr>
  <p:slideViewPr>
    <p:cSldViewPr snapToGrid="0">
      <p:cViewPr varScale="1">
        <p:scale>
          <a:sx n="23" d="100"/>
          <a:sy n="23" d="100"/>
        </p:scale>
        <p:origin x="936" y="126"/>
      </p:cViewPr>
      <p:guideLst>
        <p:guide pos="26496"/>
        <p:guide orient="horz" pos="8386"/>
        <p:guide pos="13824"/>
        <p:guide pos="14260"/>
        <p:guide orient="horz" pos="1926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9A345A-D150-6F42-9AE3-983B8A00A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A1EA3F-CBB6-6E61-01CA-34670A9B4E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2C23D-C45B-4A2C-BF87-5B14E866604E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359037-8CF4-90C0-6B9C-35B63D34F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644CA2-FB0D-4475-A90A-20281DB527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E4A9B5-938A-4D03-A740-177C6F208A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053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940DAB-E1CF-47C5-9FDC-D77F8612658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0DA60-3614-4ABE-ADAE-8D7371266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11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80DA60-3614-4ABE-ADAE-8D73712662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53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9D6F5-A9D4-C22B-732C-A31A172FB9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0" y="5387345"/>
            <a:ext cx="32918400" cy="10605086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1AFD6E-3459-290F-1147-F0C47ACEE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0" y="20864515"/>
            <a:ext cx="32918400" cy="5121072"/>
          </a:xfrm>
        </p:spPr>
        <p:txBody>
          <a:bodyPr anchor="t">
            <a:normAutofit/>
          </a:bodyPr>
          <a:lstStyle>
            <a:lvl1pPr marL="0" indent="0" algn="ctr">
              <a:buNone/>
              <a:defRPr sz="2133" cap="all" spc="400" baseline="0"/>
            </a:lvl1pPr>
            <a:lvl2pPr marL="609585" indent="0" algn="ctr">
              <a:buNone/>
              <a:defRPr sz="2133"/>
            </a:lvl2pPr>
            <a:lvl3pPr marL="1219170" indent="0" algn="ctr">
              <a:buNone/>
              <a:defRPr sz="2133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674D3-6FB9-5549-B0F2-FD61E82D1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39B8-A7CB-4B82-AC0C-44B99F546761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39BBC-C979-2C77-493E-CF5498AE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13B7E-A51C-D9CD-2189-650A9D63B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387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  <p15:guide id="2" pos="1382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155F0-A6D4-C39B-394F-0B16E9C9C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1860F-B260-57CE-E12B-2C9486031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45C9F-D94D-E5D3-B73A-20621FA53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E3940-CA92-4FEE-A698-62CF7BC5AC36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AB243-BB42-966A-4708-15C9B11D6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3A3BD-2CC5-03D3-4CD6-E31A55BA2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29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D8633-AC3B-E617-1C54-84932DDD7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50" y="7270505"/>
            <a:ext cx="30902990" cy="15066600"/>
          </a:xfrm>
        </p:spPr>
        <p:txBody>
          <a:bodyPr anchor="b">
            <a:normAutofit/>
          </a:bodyPr>
          <a:lstStyle>
            <a:lvl1pPr>
              <a:defRPr sz="4800" cap="all" spc="4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8C242-ECAB-AEC3-7E9B-F9854AF31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7251" y="23826650"/>
            <a:ext cx="30902994" cy="5403672"/>
          </a:xfrm>
        </p:spPr>
        <p:txBody>
          <a:bodyPr>
            <a:normAutofit/>
          </a:bodyPr>
          <a:lstStyle>
            <a:lvl1pPr marL="0" indent="0">
              <a:buNone/>
              <a:defRPr sz="2133" cap="all" spc="400" baseline="0">
                <a:solidFill>
                  <a:schemeClr val="tx2"/>
                </a:solidFill>
              </a:defRPr>
            </a:lvl1pPr>
            <a:lvl2pPr marL="60958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9B82-EEF4-2CD7-61FE-BAFB2B96D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CD641-6C35-45D1-9313-2719E9EA8AD8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222B6-F7A8-70A5-B023-FCAD5D7C4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5D758-2E38-8A8D-75BC-667F6A23B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322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0DFF-11BD-F5F4-35D4-1986ABBD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D1279-E9A9-702E-144D-61114B788E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60168" y="10364042"/>
            <a:ext cx="17918831" cy="1928537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4E624-7A76-56EC-FA0D-E2AA8EF9B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782209" y="10364042"/>
            <a:ext cx="17948826" cy="1928537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D7DF5-30AD-AE47-D516-5CEE82770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01268-3A74-4110-8F08-063DFB8BB885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5C503-B649-B083-6341-F6E376AF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3EA35-CF5A-DB36-8B14-5C184B6F1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13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BA3D8-FDD9-329B-BCC6-BBF47F01B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2855" y="2892821"/>
            <a:ext cx="37545491" cy="369085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EF7DC-0699-CB3C-A7CB-39035D89A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2856" y="8142360"/>
            <a:ext cx="17868737" cy="3108960"/>
          </a:xfrm>
        </p:spPr>
        <p:txBody>
          <a:bodyPr anchor="b">
            <a:noAutofit/>
          </a:bodyPr>
          <a:lstStyle>
            <a:lvl1pPr marL="0" indent="0">
              <a:buNone/>
              <a:defRPr sz="1867" b="1" cap="all" spc="400" baseline="0"/>
            </a:lvl1pPr>
            <a:lvl2pPr marL="609585" indent="0">
              <a:buNone/>
              <a:defRPr sz="1867" b="1"/>
            </a:lvl2pPr>
            <a:lvl3pPr marL="1219170" indent="0">
              <a:buNone/>
              <a:defRPr sz="1867" b="1"/>
            </a:lvl3pPr>
            <a:lvl4pPr marL="1828754" indent="0">
              <a:buNone/>
              <a:defRPr sz="1867" b="1"/>
            </a:lvl4pPr>
            <a:lvl5pPr marL="2438339" indent="0">
              <a:buNone/>
              <a:defRPr sz="1867" b="1"/>
            </a:lvl5pPr>
            <a:lvl6pPr marL="3047924" indent="0">
              <a:buNone/>
              <a:defRPr sz="1867" b="1"/>
            </a:lvl6pPr>
            <a:lvl7pPr marL="3657509" indent="0">
              <a:buNone/>
              <a:defRPr sz="1867" b="1"/>
            </a:lvl7pPr>
            <a:lvl8pPr marL="4267093" indent="0">
              <a:buNone/>
              <a:defRPr sz="1867" b="1"/>
            </a:lvl8pPr>
            <a:lvl9pPr marL="4876678" indent="0">
              <a:buNone/>
              <a:defRPr sz="1867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52EB40-99E1-CCA4-BAFA-F51AA56CF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2856" y="11251320"/>
            <a:ext cx="17868737" cy="18400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8979BC-6B50-751D-D569-F360938B0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2761609" y="8142360"/>
            <a:ext cx="17956735" cy="3108960"/>
          </a:xfrm>
        </p:spPr>
        <p:txBody>
          <a:bodyPr anchor="b">
            <a:noAutofit/>
          </a:bodyPr>
          <a:lstStyle>
            <a:lvl1pPr marL="0" indent="0">
              <a:buNone/>
              <a:defRPr sz="1867" b="1" cap="all" spc="400" baseline="0"/>
            </a:lvl1pPr>
            <a:lvl2pPr marL="609585" indent="0">
              <a:buNone/>
              <a:defRPr sz="1867" b="1"/>
            </a:lvl2pPr>
            <a:lvl3pPr marL="1219170" indent="0">
              <a:buNone/>
              <a:defRPr sz="1867" b="1"/>
            </a:lvl3pPr>
            <a:lvl4pPr marL="1828754" indent="0">
              <a:buNone/>
              <a:defRPr sz="1867" b="1"/>
            </a:lvl4pPr>
            <a:lvl5pPr marL="2438339" indent="0">
              <a:buNone/>
              <a:defRPr sz="1867" b="1"/>
            </a:lvl5pPr>
            <a:lvl6pPr marL="3047924" indent="0">
              <a:buNone/>
              <a:defRPr sz="1867" b="1"/>
            </a:lvl6pPr>
            <a:lvl7pPr marL="3657509" indent="0">
              <a:buNone/>
              <a:defRPr sz="1867" b="1"/>
            </a:lvl7pPr>
            <a:lvl8pPr marL="4267093" indent="0">
              <a:buNone/>
              <a:defRPr sz="1867" b="1"/>
            </a:lvl8pPr>
            <a:lvl9pPr marL="4876678" indent="0">
              <a:buNone/>
              <a:defRPr sz="1867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A3A26F-230E-2D25-6BDC-6ECA00FAE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2761609" y="11251320"/>
            <a:ext cx="17956735" cy="18400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182A01-DE7C-3BA4-96FF-CDEF2F60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1C1AF-C1FB-48A7-98B4-E595E63F6614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CAA828-0166-8ECD-BCE8-654BEFDD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90C0D2-459A-04AA-FD90-7687D2FE8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587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D549F-FA71-857F-E02E-3CB63CE68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9611-F911-D3D4-B613-ACCDA56C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44C44-5F8C-4BEA-BBCE-8694F126DC43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EA1961-0B6B-8FEB-F2CB-C42E90EF2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A80E-3139-9F1B-9C3E-2A76628C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30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54789-9F96-511A-0FB6-24F6A8418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9E56F9-C8F2-4EF7-8042-704C94FF2795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80399-ADEF-8F74-9F59-6AD804C9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6A34F-ABAB-9C4E-38A1-C6EEB944B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46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E3917-2BF6-1CE2-F34B-49F0D09A1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9" y="3877767"/>
            <a:ext cx="13106567" cy="9900451"/>
          </a:xfrm>
        </p:spPr>
        <p:txBody>
          <a:bodyPr anchor="t">
            <a:normAutofit/>
          </a:bodyPr>
          <a:lstStyle>
            <a:lvl1pPr>
              <a:defRPr sz="3733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15B8F-A9F3-8583-FFF1-175021F1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58435" y="3877764"/>
            <a:ext cx="21320960" cy="24255278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D90AFF-A949-CE9E-6B94-C1B6196129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14403130"/>
            <a:ext cx="13106567" cy="13768013"/>
          </a:xfrm>
        </p:spPr>
        <p:txBody>
          <a:bodyPr anchor="b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5267E-088F-FB9A-9469-551890F2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32DF-953D-44BD-83F8-5D8DA76EA12A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A3FFC-B3A6-C0B6-5DAE-70BE0D6FB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08D35F-BC2E-8D14-060F-449CBAF7C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365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09ED-ED97-A3CE-5569-77B45F41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7" y="3940231"/>
            <a:ext cx="13101523" cy="9900456"/>
          </a:xfrm>
        </p:spPr>
        <p:txBody>
          <a:bodyPr anchor="t">
            <a:normAutofit/>
          </a:bodyPr>
          <a:lstStyle>
            <a:lvl1pPr>
              <a:defRPr sz="3733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83BB3A-9E24-DE4C-9619-1502F1B6F38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18890671" y="4414056"/>
            <a:ext cx="21988724" cy="2406534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4CE1F-29E0-88BB-8489-E58236B8B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14403130"/>
            <a:ext cx="13118000" cy="13768013"/>
          </a:xfrm>
        </p:spPr>
        <p:txBody>
          <a:bodyPr anchor="b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4B7212-6816-FFD1-50B2-58844AD3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F326D-65F4-4B2F-9A62-9E4BD9402C47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417744-5A24-B7B7-5FD6-E98E60832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DA4D1-A71D-A7A6-3D0C-294E5D28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259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990AE-F72C-4C2E-E2D0-7A8D7EEF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41B46D-142E-8C8E-C4F4-B6B1586A6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D92E3-36AD-2615-0166-6B73C34F1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42F6F-0846-489A-A4BC-61B476BE2887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BFB69-319D-2284-2734-217160D3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83B0-C775-5BD2-8EC6-A41D19BC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134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040463-6D41-8D45-088A-540B0D1883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1409640" y="2842951"/>
            <a:ext cx="9464040" cy="268064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5F2276-7F04-F3F7-E3CE-F81C8DC63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017520" y="2842951"/>
            <a:ext cx="27843480" cy="268064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802BF-9E0C-3251-8FAE-81F07DB05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9DF21-A340-467A-94AB-9502647BB771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1754-5B8F-A9FA-E8B1-06E04CE28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1E6A8-5139-ECD4-CC0C-32FFC674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676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EDBA6C6-E69A-4D0D-B0EA-57BAE62B15C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3891200" cy="32918400"/>
          </a:xfrm>
          <a:solidFill>
            <a:schemeClr val="tx1">
              <a:lumMod val="85000"/>
              <a:lumOff val="15000"/>
            </a:schemeClr>
          </a:solidFill>
        </p:spPr>
        <p:txBody>
          <a:bodyPr tIns="4389120"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+mj-lt"/>
                <a:cs typeface="Posterama" panose="020B0504020200020000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225E7-242D-4A83-8AB4-AC0331CBCB9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67841" y="2408397"/>
            <a:ext cx="40837658" cy="4129643"/>
          </a:xfrm>
        </p:spPr>
        <p:txBody>
          <a:bodyPr anchor="ctr">
            <a:normAutofit/>
          </a:bodyPr>
          <a:lstStyle>
            <a:lvl1pPr algn="l">
              <a:defRPr sz="12000" b="1" cap="all" baseline="0">
                <a:solidFill>
                  <a:schemeClr val="bg1"/>
                </a:solidFill>
                <a:latin typeface="+mn-lt"/>
                <a:ea typeface="HGGothicE" panose="020B0909000000000000" pitchFamily="49" charset="-128"/>
                <a:cs typeface="Posterama" panose="020B0504020200020000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CD960E4-D317-41EA-92FD-499084FF4C9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67840" y="983655"/>
            <a:ext cx="20748568" cy="1061837"/>
          </a:xfrm>
        </p:spPr>
        <p:txBody>
          <a:bodyPr anchor="b">
            <a:noAutofit/>
          </a:bodyPr>
          <a:lstStyle>
            <a:lvl1pPr marL="0" indent="0" algn="l">
              <a:buNone/>
              <a:defRPr sz="2400" cap="all" baseline="0">
                <a:solidFill>
                  <a:schemeClr val="bg1"/>
                </a:solidFill>
                <a:latin typeface="+mj-lt"/>
                <a:cs typeface="Posterama" panose="020B0504020200020000" pitchFamily="34" charset="0"/>
              </a:defRPr>
            </a:lvl1pPr>
            <a:lvl2pPr marL="636177" indent="0" algn="ctr">
              <a:buNone/>
              <a:defRPr sz="2000">
                <a:solidFill>
                  <a:schemeClr val="bg1"/>
                </a:solidFill>
              </a:defRPr>
            </a:lvl2pPr>
            <a:lvl3pPr marL="1272355" indent="0" algn="ctr">
              <a:buNone/>
              <a:defRPr sz="2000">
                <a:solidFill>
                  <a:schemeClr val="bg1"/>
                </a:solidFill>
              </a:defRPr>
            </a:lvl3pPr>
            <a:lvl4pPr marL="1908532" indent="0" algn="ctr">
              <a:buNone/>
              <a:defRPr sz="2000">
                <a:solidFill>
                  <a:schemeClr val="bg1"/>
                </a:solidFill>
              </a:defRPr>
            </a:lvl4pPr>
            <a:lvl5pPr marL="2544710" indent="0" algn="ctr"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3E762F53-9A25-025B-D42C-9213424CE1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67841" y="6543440"/>
            <a:ext cx="22305818" cy="3595644"/>
          </a:xfr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3200" cap="all" baseline="0">
                <a:solidFill>
                  <a:schemeClr val="bg1"/>
                </a:solidFill>
                <a:latin typeface="+mj-lt"/>
                <a:cs typeface="Posterama" panose="020B0504020200020000" pitchFamily="34" charset="0"/>
              </a:defRPr>
            </a:lvl1pPr>
            <a:lvl2pPr marL="636177" indent="0" algn="ctr">
              <a:buNone/>
              <a:defRPr sz="2000">
                <a:solidFill>
                  <a:schemeClr val="bg1"/>
                </a:solidFill>
              </a:defRPr>
            </a:lvl2pPr>
            <a:lvl3pPr marL="1272355" indent="0" algn="ctr">
              <a:buNone/>
              <a:defRPr sz="2000">
                <a:solidFill>
                  <a:schemeClr val="bg1"/>
                </a:solidFill>
              </a:defRPr>
            </a:lvl3pPr>
            <a:lvl4pPr marL="1908532" indent="0" algn="ctr">
              <a:buNone/>
              <a:defRPr sz="2000">
                <a:solidFill>
                  <a:schemeClr val="bg1"/>
                </a:solidFill>
              </a:defRPr>
            </a:lvl4pPr>
            <a:lvl5pPr marL="2544710" indent="0" algn="ctr"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E22A2128-9C66-1516-3244-571876C4E9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7841" y="13132499"/>
            <a:ext cx="22305818" cy="5275377"/>
          </a:xfr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200" cap="all" baseline="0">
                <a:solidFill>
                  <a:schemeClr val="bg1"/>
                </a:solidFill>
                <a:latin typeface="+mj-lt"/>
                <a:cs typeface="Posterama" panose="020B0504020200020000" pitchFamily="34" charset="0"/>
              </a:defRPr>
            </a:lvl1pPr>
            <a:lvl2pPr marL="636177" indent="0" algn="ctr">
              <a:buNone/>
              <a:defRPr sz="2000">
                <a:solidFill>
                  <a:schemeClr val="bg1"/>
                </a:solidFill>
              </a:defRPr>
            </a:lvl2pPr>
            <a:lvl3pPr marL="1272355" indent="0" algn="ctr">
              <a:buNone/>
              <a:defRPr sz="2000">
                <a:solidFill>
                  <a:schemeClr val="bg1"/>
                </a:solidFill>
              </a:defRPr>
            </a:lvl3pPr>
            <a:lvl4pPr marL="1908532" indent="0" algn="ctr">
              <a:buNone/>
              <a:defRPr sz="2000">
                <a:solidFill>
                  <a:schemeClr val="bg1"/>
                </a:solidFill>
              </a:defRPr>
            </a:lvl4pPr>
            <a:lvl5pPr marL="2544710" indent="0" algn="ctr"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1FEC28B8-CC8A-6D86-7347-EFBF673382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0008" y="26743513"/>
            <a:ext cx="21751636" cy="4129641"/>
          </a:xfrm>
        </p:spPr>
        <p:txBody>
          <a:bodyPr anchor="b"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000" cap="all" baseline="0">
                <a:solidFill>
                  <a:schemeClr val="bg1"/>
                </a:solidFill>
                <a:latin typeface="+mj-lt"/>
                <a:cs typeface="Posterama" panose="020B0504020200020000" pitchFamily="34" charset="0"/>
              </a:defRPr>
            </a:lvl1pPr>
            <a:lvl2pPr marL="636177" indent="0" algn="ctr">
              <a:buNone/>
              <a:defRPr sz="2000">
                <a:solidFill>
                  <a:schemeClr val="bg1"/>
                </a:solidFill>
              </a:defRPr>
            </a:lvl2pPr>
            <a:lvl3pPr marL="1272355" indent="0" algn="ctr">
              <a:buNone/>
              <a:defRPr sz="2000">
                <a:solidFill>
                  <a:schemeClr val="bg1"/>
                </a:solidFill>
              </a:defRPr>
            </a:lvl3pPr>
            <a:lvl4pPr marL="1908532" indent="0" algn="ctr">
              <a:buNone/>
              <a:defRPr sz="2000">
                <a:solidFill>
                  <a:schemeClr val="bg1"/>
                </a:solidFill>
              </a:defRPr>
            </a:lvl4pPr>
            <a:lvl5pPr marL="2544710" indent="0" algn="ctr"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CB7BA584-BA7A-37CA-7A32-4B5748139A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073658" y="26743513"/>
            <a:ext cx="18531840" cy="4129641"/>
          </a:xfrm>
        </p:spPr>
        <p:txBody>
          <a:bodyPr anchor="b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2000" cap="all" baseline="0">
                <a:solidFill>
                  <a:schemeClr val="bg1"/>
                </a:solidFill>
                <a:latin typeface="+mn-lt"/>
                <a:cs typeface="Posterama" panose="020B0504020200020000" pitchFamily="34" charset="0"/>
              </a:defRPr>
            </a:lvl1pPr>
            <a:lvl2pPr marL="636177" indent="0" algn="ctr">
              <a:buNone/>
              <a:defRPr sz="2000">
                <a:solidFill>
                  <a:schemeClr val="bg1"/>
                </a:solidFill>
              </a:defRPr>
            </a:lvl2pPr>
            <a:lvl3pPr marL="1272355" indent="0" algn="ctr">
              <a:buNone/>
              <a:defRPr sz="2000">
                <a:solidFill>
                  <a:schemeClr val="bg1"/>
                </a:solidFill>
              </a:defRPr>
            </a:lvl3pPr>
            <a:lvl4pPr marL="1908532" indent="0" algn="ctr">
              <a:buNone/>
              <a:defRPr sz="2000">
                <a:solidFill>
                  <a:schemeClr val="bg1"/>
                </a:solidFill>
              </a:defRPr>
            </a:lvl4pPr>
            <a:lvl5pPr marL="2544710" indent="0" algn="ctr"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</p:txBody>
      </p:sp>
    </p:spTree>
    <p:extLst>
      <p:ext uri="{BB962C8B-B14F-4D97-AF65-F5344CB8AC3E}">
        <p14:creationId xmlns:p14="http://schemas.microsoft.com/office/powerpoint/2010/main" val="3925623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  <p15:guide id="2" pos="1256" userDrawn="1">
          <p15:clr>
            <a:srgbClr val="FBAE40"/>
          </p15:clr>
        </p15:guide>
        <p15:guide id="3" pos="2639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858A62-FE72-978B-BE71-05908D82E1A4}"/>
              </a:ext>
            </a:extLst>
          </p:cNvPr>
          <p:cNvSpPr/>
          <p:nvPr/>
        </p:nvSpPr>
        <p:spPr>
          <a:xfrm>
            <a:off x="0" y="2"/>
            <a:ext cx="43891200" cy="32928773"/>
          </a:xfrm>
          <a:prstGeom prst="rect">
            <a:avLst/>
          </a:prstGeom>
          <a:solidFill>
            <a:schemeClr val="bg2">
              <a:lumMod val="75000"/>
              <a:alpha val="1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FA14B7-4740-5D9F-6489-BAD00C3E0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989" y="2823576"/>
            <a:ext cx="37619222" cy="60764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0487F-803F-C5AF-BD93-39C0FC738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60166" y="10358326"/>
            <a:ext cx="37592813" cy="18738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6FCEF-4EDF-C2EF-7D81-FEFF7042F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160166" y="30510482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7" cap="all" spc="400" baseline="0">
                <a:solidFill>
                  <a:schemeClr val="tx2"/>
                </a:solidFill>
              </a:defRPr>
            </a:lvl1pPr>
          </a:lstStyle>
          <a:p>
            <a:fld id="{F9B0CB28-85DB-480B-8C99-FD493ACC7120}" type="datetimeFigureOut">
              <a:rPr lang="en-US" dirty="0"/>
              <a:t>3/15/2026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663BC-4D46-C74D-DDF2-9D25B4D96F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676352" y="30510482"/>
            <a:ext cx="15471648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7" cap="all" spc="4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B4EAE-CB5C-D14B-77EF-7B155FA683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147998" y="30510482"/>
            <a:ext cx="1876345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67">
                <a:solidFill>
                  <a:schemeClr val="tx2"/>
                </a:solidFill>
                <a:latin typeface="+mj-lt"/>
              </a:defRPr>
            </a:lvl1pPr>
          </a:lstStyle>
          <a:p>
            <a:fld id="{5E4DE196-8A13-4FF7-A07E-102851959EA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581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  <p:sldLayoutId id="2147483948" r:id="rId1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0368" userDrawn="1">
          <p15:clr>
            <a:srgbClr val="F26B43"/>
          </p15:clr>
        </p15:guide>
        <p15:guide id="4" pos="13824" userDrawn="1">
          <p15:clr>
            <a:srgbClr val="F26B43"/>
          </p15:clr>
        </p15:guide>
        <p15:guide id="5" orient="horz" pos="18317" userDrawn="1">
          <p15:clr>
            <a:srgbClr val="F26B43"/>
          </p15:clr>
        </p15:guide>
        <p15:guide id="6" orient="horz" pos="56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fif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5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C7AC555-74AA-8F8F-BEF4-BD46BA411D55}"/>
              </a:ext>
            </a:extLst>
          </p:cNvPr>
          <p:cNvSpPr txBox="1"/>
          <p:nvPr/>
        </p:nvSpPr>
        <p:spPr>
          <a:xfrm>
            <a:off x="0" y="0"/>
            <a:ext cx="43892438" cy="36625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9600" b="1" u="sng" dirty="0"/>
              <a:t>Unsupervised Fish Species Discovery </a:t>
            </a:r>
          </a:p>
          <a:p>
            <a:pPr algn="ctr"/>
            <a:r>
              <a:rPr lang="en-US" sz="9600" b="1" u="sng"/>
              <a:t>Using Object Detection and Deep Visual Embeddings </a:t>
            </a:r>
            <a:endParaRPr lang="en-US" sz="9600" b="1" u="sng" dirty="0"/>
          </a:p>
          <a:p>
            <a:pPr algn="ctr"/>
            <a:r>
              <a:rPr lang="en-US" sz="4000" b="1" u="sng"/>
              <a:t>David</a:t>
            </a:r>
            <a:r>
              <a:rPr lang="en-US" sz="4000" b="1" u="sng" dirty="0"/>
              <a:t> Wilson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DF4053-B3FF-3CD2-79F9-0E61156C40B1}"/>
              </a:ext>
            </a:extLst>
          </p:cNvPr>
          <p:cNvSpPr txBox="1"/>
          <p:nvPr/>
        </p:nvSpPr>
        <p:spPr>
          <a:xfrm>
            <a:off x="41512" y="3632886"/>
            <a:ext cx="14245260" cy="75398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Introduction</a:t>
            </a:r>
            <a:endParaRPr lang="en-US"/>
          </a:p>
          <a:p>
            <a:r>
              <a:rPr lang="en-US" sz="4000" dirty="0">
                <a:ea typeface="+mn-lt"/>
                <a:cs typeface="+mn-lt"/>
              </a:rPr>
              <a:t>Marine biodiversity monitoring traditionally relies on manual</a:t>
            </a:r>
            <a:endParaRPr lang="en-US" dirty="0"/>
          </a:p>
          <a:p>
            <a:r>
              <a:rPr lang="en-US" sz="4000">
                <a:ea typeface="+mn-lt"/>
                <a:cs typeface="+mn-lt"/>
              </a:rPr>
              <a:t>annotation of underwater imagery, which is time-consuming and requires expert knowledge.</a:t>
            </a:r>
            <a:endParaRPr lang="en-US"/>
          </a:p>
          <a:p>
            <a:endParaRPr lang="en-US"/>
          </a:p>
          <a:p>
            <a:r>
              <a:rPr lang="en-US" sz="4000" dirty="0">
                <a:ea typeface="+mn-lt"/>
                <a:cs typeface="+mn-lt"/>
              </a:rPr>
              <a:t>Recent advances in AI allow marine organisms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to be detected automatically from underwater images.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However, most existing systems rely on fully supervised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classification, requiring large labelled datasets.</a:t>
            </a:r>
            <a:endParaRPr lang="en-US" dirty="0"/>
          </a:p>
          <a:p>
            <a:endParaRPr lang="en-US"/>
          </a:p>
          <a:p>
            <a:r>
              <a:rPr lang="en-US" sz="4000" dirty="0">
                <a:ea typeface="+mn-lt"/>
                <a:cs typeface="+mn-lt"/>
              </a:rPr>
              <a:t>This project explores whether unsupervised learning can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automatically group fish into species-like clusters without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manual annotation.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EF9BD4-D3DA-BE01-785C-01F1BB5F477D}"/>
              </a:ext>
            </a:extLst>
          </p:cNvPr>
          <p:cNvSpPr txBox="1"/>
          <p:nvPr/>
        </p:nvSpPr>
        <p:spPr>
          <a:xfrm>
            <a:off x="37070" y="11461673"/>
            <a:ext cx="5810805" cy="131183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Project Aim</a:t>
            </a:r>
          </a:p>
          <a:p>
            <a:r>
              <a:rPr lang="en-US" sz="4000" dirty="0">
                <a:ea typeface="+mn-lt"/>
                <a:cs typeface="+mn-lt"/>
              </a:rPr>
              <a:t>The goal of this project is to develop </a:t>
            </a:r>
            <a:r>
              <a:rPr lang="en-US" sz="4000">
                <a:ea typeface="+mn-lt"/>
                <a:cs typeface="+mn-lt"/>
              </a:rPr>
              <a:t>an</a:t>
            </a:r>
            <a:r>
              <a:rPr lang="en-US" sz="4000" dirty="0">
                <a:ea typeface="+mn-lt"/>
                <a:cs typeface="+mn-lt"/>
              </a:rPr>
              <a:t> AI capable of automatically grouping fish images into visually similar species clusters.</a:t>
            </a:r>
            <a:endParaRPr lang="en-US"/>
          </a:p>
          <a:p>
            <a:endParaRPr lang="en-US"/>
          </a:p>
          <a:p>
            <a:r>
              <a:rPr lang="en-US" sz="4000" dirty="0">
                <a:ea typeface="+mn-lt"/>
                <a:cs typeface="+mn-lt"/>
              </a:rPr>
              <a:t>Key objectives:</a:t>
            </a:r>
            <a:endParaRPr lang="en-US" dirty="0"/>
          </a:p>
          <a:p>
            <a:endParaRPr lang="en-US"/>
          </a:p>
          <a:p>
            <a:r>
              <a:rPr lang="en-US" sz="4000">
                <a:ea typeface="+mn-lt"/>
                <a:cs typeface="+mn-lt"/>
              </a:rPr>
              <a:t>• Detect fish in underwater images using YOLOv8</a:t>
            </a:r>
            <a:endParaRPr lang="en-US"/>
          </a:p>
          <a:p>
            <a:r>
              <a:rPr lang="en-US" sz="4000">
                <a:ea typeface="+mn-lt"/>
                <a:cs typeface="+mn-lt"/>
              </a:rPr>
              <a:t>• Extract fish crops from detected bounding boxes</a:t>
            </a:r>
            <a:endParaRPr lang="en-US"/>
          </a:p>
          <a:p>
            <a:r>
              <a:rPr lang="en-US" sz="4000" dirty="0">
                <a:ea typeface="+mn-lt"/>
                <a:cs typeface="+mn-lt"/>
              </a:rPr>
              <a:t>• Generate deep visual embeddings from each </a:t>
            </a:r>
            <a:r>
              <a:rPr lang="en-US" sz="4000">
                <a:ea typeface="+mn-lt"/>
                <a:cs typeface="+mn-lt"/>
              </a:rPr>
              <a:t>crop</a:t>
            </a:r>
            <a:endParaRPr lang="en-US"/>
          </a:p>
          <a:p>
            <a:r>
              <a:rPr lang="en-US" sz="4000" dirty="0">
                <a:ea typeface="+mn-lt"/>
                <a:cs typeface="+mn-lt"/>
              </a:rPr>
              <a:t>• Cluster fish using unsupervised </a:t>
            </a:r>
            <a:r>
              <a:rPr lang="en-US" sz="4000">
                <a:ea typeface="+mn-lt"/>
                <a:cs typeface="+mn-lt"/>
              </a:rPr>
              <a:t>learning</a:t>
            </a:r>
            <a:endParaRPr lang="en-US" dirty="0" err="1"/>
          </a:p>
          <a:p>
            <a:endParaRPr lang="en-US" sz="1750" dirty="0"/>
          </a:p>
          <a:p>
            <a:endParaRPr lang="en-US" sz="1750" dirty="0"/>
          </a:p>
          <a:p>
            <a:endParaRPr lang="en-US" sz="1750" dirty="0"/>
          </a:p>
          <a:p>
            <a:endParaRPr lang="en-US" sz="1750" dirty="0"/>
          </a:p>
          <a:p>
            <a:endParaRPr lang="en-US" sz="1750" dirty="0"/>
          </a:p>
          <a:p>
            <a:endParaRPr lang="en-US" sz="1750" dirty="0"/>
          </a:p>
          <a:p>
            <a:endParaRPr lang="en-US" sz="17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065ED7-3379-F2BE-1DAA-B6E7A85A51C9}"/>
              </a:ext>
            </a:extLst>
          </p:cNvPr>
          <p:cNvSpPr txBox="1"/>
          <p:nvPr/>
        </p:nvSpPr>
        <p:spPr>
          <a:xfrm>
            <a:off x="14747331" y="13828343"/>
            <a:ext cx="14531545" cy="82176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4800" b="1" u="sng" dirty="0"/>
              <a:t>Dataset</a:t>
            </a:r>
            <a:endParaRPr lang="en-US" sz="4000" b="1" u="sng" dirty="0"/>
          </a:p>
          <a:p>
            <a:r>
              <a:rPr lang="en-US" sz="4000" dirty="0">
                <a:ea typeface="+mn-lt"/>
                <a:cs typeface="+mn-lt"/>
              </a:rPr>
              <a:t>The dataset consists of underwater imagery containing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multiple fish species in natural marine environments.</a:t>
            </a:r>
            <a:endParaRPr lang="en-US" sz="4000" dirty="0"/>
          </a:p>
          <a:p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Images include: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• Diverse fish sizes and shapes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• Varying lighting conditions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• Complex backgrounds such as coral and rocks</a:t>
            </a:r>
            <a:endParaRPr lang="en-US" sz="4000" dirty="0"/>
          </a:p>
          <a:p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From the dataset: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• 60 validation images per species 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• 15+ species used per test batch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• 767 annotated fish instances</a:t>
            </a:r>
            <a:endParaRPr lang="en-US" sz="4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FBB5CA-9794-1164-D9A7-40C872AE363E}"/>
              </a:ext>
            </a:extLst>
          </p:cNvPr>
          <p:cNvSpPr txBox="1"/>
          <p:nvPr/>
        </p:nvSpPr>
        <p:spPr>
          <a:xfrm>
            <a:off x="14660007" y="3623011"/>
            <a:ext cx="14679826" cy="99078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u="sng" dirty="0"/>
              <a:t>Method</a:t>
            </a:r>
            <a:endParaRPr lang="en-US" sz="3800" b="1" u="sng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1. Fish Detection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Fish are detected using the YOLOv8 object detection</a:t>
            </a:r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framework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2. Crop Extraction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Detected fish are extracted as individual image crops.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3. Image Filtering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Low-quality crops are removed based on:</a:t>
            </a:r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Minimum bounding box size, Image sharpness, and Aspect ratio constraints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4. Feature Extraction</a:t>
            </a:r>
            <a:endParaRPr lang="en-US" dirty="0"/>
          </a:p>
          <a:p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Each crop is converted into a numerical feature</a:t>
            </a:r>
            <a:endParaRPr lang="en-US" dirty="0"/>
          </a:p>
          <a:p>
            <a:r>
              <a:rPr lang="en-US" sz="3800" dirty="0">
                <a:ea typeface="+mn-lt"/>
                <a:cs typeface="+mn-lt"/>
              </a:rPr>
              <a:t>representation using a pretrained AI.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F9F34F-FC28-A733-CBB4-D9D1D49BD299}"/>
              </a:ext>
            </a:extLst>
          </p:cNvPr>
          <p:cNvSpPr txBox="1"/>
          <p:nvPr/>
        </p:nvSpPr>
        <p:spPr>
          <a:xfrm>
            <a:off x="29793429" y="12089693"/>
            <a:ext cx="14010728" cy="82176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Training Results</a:t>
            </a:r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  <a:p>
            <a:endParaRPr lang="en-US" sz="4000" b="1" u="sng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0310D9-B2A5-173F-27A9-BE6C5B4D82BA}"/>
              </a:ext>
            </a:extLst>
          </p:cNvPr>
          <p:cNvSpPr txBox="1"/>
          <p:nvPr/>
        </p:nvSpPr>
        <p:spPr>
          <a:xfrm>
            <a:off x="14762384" y="22190514"/>
            <a:ext cx="14614659" cy="106102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Challenges</a:t>
            </a:r>
            <a:endParaRPr lang="en-US" sz="4000" b="1" dirty="0"/>
          </a:p>
          <a:p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Background contamination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Bounding boxes sometimes contain large portions of</a:t>
            </a:r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background such as coral, rocks, or water.</a:t>
            </a:r>
            <a:endParaRPr lang="en-US" dirty="0"/>
          </a:p>
          <a:p>
            <a:endParaRPr lang="en-US" sz="1750" dirty="0"/>
          </a:p>
          <a:p>
            <a:r>
              <a:rPr lang="en-US" sz="4000" dirty="0"/>
              <a:t>Lighting variation</a:t>
            </a:r>
            <a:endParaRPr lang="en-US" sz="1750" dirty="0"/>
          </a:p>
          <a:p>
            <a:r>
              <a:rPr lang="en-US" sz="4000" dirty="0"/>
              <a:t>Underwater environments produce strong color shifts</a:t>
            </a:r>
            <a:endParaRPr lang="en-US" sz="1750" dirty="0"/>
          </a:p>
          <a:p>
            <a:r>
              <a:rPr lang="en-US" sz="4000" dirty="0"/>
              <a:t>that affect visual similarity between fish images.</a:t>
            </a:r>
            <a:endParaRPr lang="en-US" sz="1750" dirty="0"/>
          </a:p>
          <a:p>
            <a:endParaRPr lang="en-US" sz="4000" dirty="0"/>
          </a:p>
          <a:p>
            <a:r>
              <a:rPr lang="en-US" sz="4000" dirty="0"/>
              <a:t>Several iterations of</a:t>
            </a:r>
          </a:p>
          <a:p>
            <a:r>
              <a:rPr lang="en-US" sz="4000" dirty="0"/>
              <a:t> model training and</a:t>
            </a:r>
            <a:endParaRPr lang="en-US" dirty="0"/>
          </a:p>
          <a:p>
            <a:r>
              <a:rPr lang="en-US" sz="4000" dirty="0"/>
              <a:t> parameter tuning</a:t>
            </a:r>
            <a:endParaRPr lang="en-US" sz="1750" dirty="0"/>
          </a:p>
          <a:p>
            <a:r>
              <a:rPr lang="en-US" sz="4000" dirty="0"/>
              <a:t>were needed to </a:t>
            </a:r>
            <a:endParaRPr lang="en-US" dirty="0"/>
          </a:p>
          <a:p>
            <a:r>
              <a:rPr lang="en-US" sz="4000" dirty="0"/>
              <a:t>improve detection </a:t>
            </a:r>
            <a:endParaRPr lang="en-US" sz="1750" dirty="0"/>
          </a:p>
          <a:p>
            <a:r>
              <a:rPr lang="en-US" sz="4000" dirty="0"/>
              <a:t>Reliability</a:t>
            </a:r>
            <a:endParaRPr lang="en-US" sz="1750" dirty="0"/>
          </a:p>
          <a:p>
            <a:endParaRPr lang="en-US" sz="4000" dirty="0"/>
          </a:p>
          <a:p>
            <a:endParaRPr lang="en-US" sz="4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A8F131-CDA9-571D-C5B8-A4088F316373}"/>
              </a:ext>
            </a:extLst>
          </p:cNvPr>
          <p:cNvSpPr txBox="1"/>
          <p:nvPr/>
        </p:nvSpPr>
        <p:spPr>
          <a:xfrm>
            <a:off x="29793429" y="20427104"/>
            <a:ext cx="14010728" cy="7332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Conclusion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This project demonstrates the feasibility of combining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object detection with unsupervised learning to analyze</a:t>
            </a:r>
            <a:endParaRPr lang="en-US" sz="4000" dirty="0" err="1"/>
          </a:p>
          <a:p>
            <a:r>
              <a:rPr lang="en-US" sz="4000" dirty="0">
                <a:ea typeface="+mn-lt"/>
                <a:cs typeface="+mn-lt"/>
              </a:rPr>
              <a:t>underwater fish imagery.</a:t>
            </a:r>
            <a:br>
              <a:rPr lang="en-US" sz="4000" dirty="0">
                <a:ea typeface="+mn-lt"/>
                <a:cs typeface="+mn-lt"/>
              </a:rPr>
            </a:br>
            <a:r>
              <a:rPr lang="en-US" sz="1050" dirty="0">
                <a:ea typeface="+mn-lt"/>
                <a:cs typeface="+mn-lt"/>
              </a:rPr>
              <a:t> </a:t>
            </a:r>
            <a:endParaRPr lang="en-US" sz="4000" dirty="0"/>
          </a:p>
          <a:p>
            <a:r>
              <a:rPr lang="en-US" sz="4000" dirty="0">
                <a:ea typeface="+mn-lt"/>
                <a:cs typeface="+mn-lt"/>
              </a:rPr>
              <a:t>The developed pipeline successfully detects fish, extracts visual embeddings, and groups fish into clusters</a:t>
            </a:r>
          </a:p>
          <a:p>
            <a:r>
              <a:rPr lang="en-US" sz="4000" dirty="0">
                <a:ea typeface="+mn-lt"/>
                <a:cs typeface="+mn-lt"/>
              </a:rPr>
              <a:t>based on visual similarity.</a:t>
            </a:r>
            <a:endParaRPr lang="en-US" sz="4000" dirty="0"/>
          </a:p>
          <a:p>
            <a:endParaRPr lang="en-US" sz="1200" dirty="0"/>
          </a:p>
          <a:p>
            <a:r>
              <a:rPr lang="en-US" sz="4000" dirty="0">
                <a:ea typeface="+mn-lt"/>
                <a:cs typeface="+mn-lt"/>
              </a:rPr>
              <a:t>Although challenges remain in separating</a:t>
            </a:r>
          </a:p>
          <a:p>
            <a:r>
              <a:rPr lang="en-US" sz="4000" dirty="0">
                <a:ea typeface="+mn-lt"/>
                <a:cs typeface="+mn-lt"/>
              </a:rPr>
              <a:t>species precisely, the approach shows </a:t>
            </a:r>
          </a:p>
          <a:p>
            <a:r>
              <a:rPr lang="en-US" sz="4000" dirty="0">
                <a:ea typeface="+mn-lt"/>
                <a:cs typeface="+mn-lt"/>
              </a:rPr>
              <a:t>promise for automated marine biodiversity</a:t>
            </a:r>
          </a:p>
          <a:p>
            <a:r>
              <a:rPr lang="en-US" sz="4000" dirty="0">
                <a:ea typeface="+mn-lt"/>
                <a:cs typeface="+mn-lt"/>
              </a:rPr>
              <a:t> analysis.</a:t>
            </a:r>
            <a:endParaRPr lang="en-US" sz="4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53529C-EE48-7670-F57E-A67570BA2934}"/>
              </a:ext>
            </a:extLst>
          </p:cNvPr>
          <p:cNvSpPr txBox="1"/>
          <p:nvPr/>
        </p:nvSpPr>
        <p:spPr>
          <a:xfrm>
            <a:off x="29947229" y="27896536"/>
            <a:ext cx="13547362" cy="48891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u="sng" dirty="0"/>
              <a:t>Future Work</a:t>
            </a:r>
            <a:endParaRPr lang="en-US" sz="4000" b="1" u="sng" dirty="0"/>
          </a:p>
          <a:p>
            <a:r>
              <a:rPr lang="en-US" sz="4000" dirty="0">
                <a:ea typeface="+mn-lt"/>
                <a:cs typeface="+mn-lt"/>
              </a:rPr>
              <a:t>Several improvements could further enhance clustering</a:t>
            </a:r>
            <a:endParaRPr lang="en-US" dirty="0">
              <a:ea typeface="+mn-lt"/>
              <a:cs typeface="+mn-lt"/>
            </a:endParaRPr>
          </a:p>
          <a:p>
            <a:r>
              <a:rPr lang="en-US" sz="4000" dirty="0">
                <a:ea typeface="+mn-lt"/>
                <a:cs typeface="+mn-lt"/>
              </a:rPr>
              <a:t>performance.</a:t>
            </a:r>
            <a:endParaRPr lang="en-US" dirty="0">
              <a:ea typeface="+mn-lt"/>
              <a:cs typeface="+mn-lt"/>
            </a:endParaRPr>
          </a:p>
          <a:p>
            <a:endParaRPr lang="en-US" dirty="0"/>
          </a:p>
          <a:p>
            <a:r>
              <a:rPr lang="en-US" sz="4000" dirty="0">
                <a:ea typeface="+mn-lt"/>
                <a:cs typeface="+mn-lt"/>
              </a:rPr>
              <a:t>• Self-supervised feature extractors such as DINOv2</a:t>
            </a:r>
            <a:endParaRPr lang="en-US" dirty="0">
              <a:ea typeface="+mn-lt"/>
              <a:cs typeface="+mn-lt"/>
            </a:endParaRPr>
          </a:p>
          <a:p>
            <a:r>
              <a:rPr lang="en-US" sz="4000" dirty="0">
                <a:ea typeface="+mn-lt"/>
                <a:cs typeface="+mn-lt"/>
              </a:rPr>
              <a:t>• Fish segmentation to remove background pixels</a:t>
            </a:r>
            <a:endParaRPr lang="en-US" dirty="0">
              <a:ea typeface="+mn-lt"/>
              <a:cs typeface="+mn-lt"/>
            </a:endParaRPr>
          </a:p>
          <a:p>
            <a:r>
              <a:rPr lang="en-US" sz="4000" dirty="0">
                <a:ea typeface="+mn-lt"/>
                <a:cs typeface="+mn-lt"/>
              </a:rPr>
              <a:t>• Color normalization for underwater imagery</a:t>
            </a:r>
            <a:endParaRPr lang="en-US" dirty="0">
              <a:ea typeface="+mn-lt"/>
              <a:cs typeface="+mn-lt"/>
            </a:endParaRPr>
          </a:p>
          <a:p>
            <a:r>
              <a:rPr lang="en-US" sz="4000" dirty="0">
                <a:ea typeface="+mn-lt"/>
                <a:cs typeface="+mn-lt"/>
              </a:rPr>
              <a:t>• Fine-tuning embeddings on marine datasets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FCE421-E822-9FEC-0C46-B8256B601246}"/>
              </a:ext>
            </a:extLst>
          </p:cNvPr>
          <p:cNvSpPr txBox="1"/>
          <p:nvPr/>
        </p:nvSpPr>
        <p:spPr>
          <a:xfrm>
            <a:off x="5619135" y="10530348"/>
            <a:ext cx="8649710" cy="22255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66FA00-6BBC-9FDB-BAFB-D71338444CEB}"/>
              </a:ext>
            </a:extLst>
          </p:cNvPr>
          <p:cNvSpPr txBox="1"/>
          <p:nvPr/>
        </p:nvSpPr>
        <p:spPr>
          <a:xfrm>
            <a:off x="29795484" y="3650044"/>
            <a:ext cx="13793445" cy="83878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u="sng" dirty="0"/>
              <a:t>Project Results</a:t>
            </a:r>
          </a:p>
          <a:p>
            <a:r>
              <a:rPr lang="en-US" sz="3800" dirty="0">
                <a:ea typeface="+mn-lt"/>
                <a:cs typeface="+mn-lt"/>
              </a:rPr>
              <a:t>The YOLOv8 detection model achieved </a:t>
            </a:r>
            <a:r>
              <a:rPr lang="en-US" sz="3800">
                <a:ea typeface="+mn-lt"/>
                <a:cs typeface="+mn-lt"/>
              </a:rPr>
              <a:t>impressive performance</a:t>
            </a:r>
            <a:endParaRPr lang="en-US" sz="3800"/>
          </a:p>
          <a:p>
            <a:r>
              <a:rPr lang="en-US" sz="3800" dirty="0">
                <a:ea typeface="+mn-lt"/>
                <a:cs typeface="+mn-lt"/>
              </a:rPr>
              <a:t>on the validation dataset.</a:t>
            </a:r>
            <a:endParaRPr lang="en-US" sz="3800" dirty="0"/>
          </a:p>
          <a:p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Detection metrics:</a:t>
            </a:r>
            <a:endParaRPr lang="en-US" sz="3800" dirty="0"/>
          </a:p>
          <a:p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Precision: 0.913</a:t>
            </a:r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Recall: 0.776</a:t>
            </a:r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mAP@50: 0.871</a:t>
            </a:r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mAP@50-95: 0.603</a:t>
            </a:r>
            <a:endParaRPr lang="en-US" sz="3800" dirty="0"/>
          </a:p>
          <a:p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These results indicate that the detector reliably</a:t>
            </a:r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identifies fish within underwater scenes and provides</a:t>
            </a:r>
            <a:endParaRPr lang="en-US" sz="3800" dirty="0"/>
          </a:p>
          <a:p>
            <a:r>
              <a:rPr lang="en-US" sz="3800" dirty="0">
                <a:ea typeface="+mn-lt"/>
                <a:cs typeface="+mn-lt"/>
              </a:rPr>
              <a:t>high-quality crops for clustering.</a:t>
            </a:r>
            <a:endParaRPr lang="en-US" sz="3800" dirty="0"/>
          </a:p>
        </p:txBody>
      </p:sp>
      <p:pic>
        <p:nvPicPr>
          <p:cNvPr id="44" name="Picture 43" descr="A diagram of a fish processing process&#10;&#10;AI-generated content may be incorrect.">
            <a:extLst>
              <a:ext uri="{FF2B5EF4-FFF2-40B4-BE49-F238E27FC236}">
                <a16:creationId xmlns:a16="http://schemas.microsoft.com/office/drawing/2014/main" id="{54D54E6E-481E-3E1A-9D40-0D0C8E5A6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252" y="10754910"/>
            <a:ext cx="8370487" cy="21854301"/>
          </a:xfrm>
          <a:prstGeom prst="rect">
            <a:avLst/>
          </a:prstGeom>
        </p:spPr>
      </p:pic>
      <p:pic>
        <p:nvPicPr>
          <p:cNvPr id="49" name="Picture 4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26ECEE-BB4F-1F00-4AF1-EF1539BD9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4558" y="5467039"/>
            <a:ext cx="7000875" cy="463867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E1961076-CB2F-2414-DF5C-F2D9D52631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32829" y="13045835"/>
            <a:ext cx="13493815" cy="6826729"/>
          </a:xfrm>
          <a:prstGeom prst="rect">
            <a:avLst/>
          </a:prstGeom>
        </p:spPr>
      </p:pic>
      <p:pic>
        <p:nvPicPr>
          <p:cNvPr id="45" name="Picture 44" descr="A group of fish swimming in water&#10;&#10;AI-generated content may be incorrect.">
            <a:extLst>
              <a:ext uri="{FF2B5EF4-FFF2-40B4-BE49-F238E27FC236}">
                <a16:creationId xmlns:a16="http://schemas.microsoft.com/office/drawing/2014/main" id="{B4819EDF-D6DD-884E-8256-9B592B84CB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26010" y="19164030"/>
            <a:ext cx="4886645" cy="2526147"/>
          </a:xfrm>
          <a:prstGeom prst="rect">
            <a:avLst/>
          </a:prstGeom>
        </p:spPr>
      </p:pic>
      <p:pic>
        <p:nvPicPr>
          <p:cNvPr id="54" name="Picture 53" descr="A turtle swimming in the water&#10;&#10;AI-generated content may be incorrect.">
            <a:extLst>
              <a:ext uri="{FF2B5EF4-FFF2-40B4-BE49-F238E27FC236}">
                <a16:creationId xmlns:a16="http://schemas.microsoft.com/office/drawing/2014/main" id="{1081E0DB-E4F0-59D6-9E1C-AEFBC391BA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31" y="25391575"/>
            <a:ext cx="5009585" cy="2885793"/>
          </a:xfrm>
          <a:prstGeom prst="rect">
            <a:avLst/>
          </a:prstGeom>
        </p:spPr>
      </p:pic>
      <p:pic>
        <p:nvPicPr>
          <p:cNvPr id="55" name="Picture 54" descr="A fish swimming in the water&#10;&#10;AI-generated content may be incorrect.">
            <a:extLst>
              <a:ext uri="{FF2B5EF4-FFF2-40B4-BE49-F238E27FC236}">
                <a16:creationId xmlns:a16="http://schemas.microsoft.com/office/drawing/2014/main" id="{011D6F3E-7807-DA8C-9AA3-5F68B25399E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524" y="28536355"/>
            <a:ext cx="5389829" cy="288579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8F1E629-2796-882D-9508-D666B43F1F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90821" y="27782964"/>
            <a:ext cx="8021834" cy="4523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093822-C187-3ADA-6CB3-A32916812C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597280" y="23874361"/>
            <a:ext cx="3991649" cy="376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08316"/>
      </p:ext>
    </p:extLst>
  </p:cSld>
  <p:clrMapOvr>
    <a:masterClrMapping/>
  </p:clrMapOvr>
</p:sld>
</file>

<file path=ppt/theme/theme1.xml><?xml version="1.0" encoding="utf-8"?>
<a:theme xmlns:a="http://schemas.openxmlformats.org/drawingml/2006/main" name="BohoVogueVTI">
  <a:themeElements>
    <a:clrScheme name="BohoVogueVTI">
      <a:dk1>
        <a:sysClr val="windowText" lastClr="000000"/>
      </a:dk1>
      <a:lt1>
        <a:sysClr val="window" lastClr="FFFFFF"/>
      </a:lt1>
      <a:dk2>
        <a:srgbClr val="35403A"/>
      </a:dk2>
      <a:lt2>
        <a:srgbClr val="F1EFEB"/>
      </a:lt2>
      <a:accent1>
        <a:srgbClr val="9E8B50"/>
      </a:accent1>
      <a:accent2>
        <a:srgbClr val="D5966B"/>
      </a:accent2>
      <a:accent3>
        <a:srgbClr val="9BA6BB"/>
      </a:accent3>
      <a:accent4>
        <a:srgbClr val="869880"/>
      </a:accent4>
      <a:accent5>
        <a:srgbClr val="588267"/>
      </a:accent5>
      <a:accent6>
        <a:srgbClr val="B89C46"/>
      </a:accent6>
      <a:hlink>
        <a:srgbClr val="C77138"/>
      </a:hlink>
      <a:folHlink>
        <a:srgbClr val="589374"/>
      </a:folHlink>
    </a:clrScheme>
    <a:fontScheme name="BohoVogueVTI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BohoVogu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ohoVogueVTI" id="{587E0025-A466-4551-A341-1A9F570FDF06}" vid="{F615CBBD-D1BB-4663-887F-92A47C7C6A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9B9E6A9-7819-4063-83F2-25CE73BED69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2FFAC1-03E1-49B6-AD9B-2938CECA88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89965BD-26A5-4115-85B7-F70113F2497C}">
  <ds:schemaRefs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71af3243-3dd4-4a8d-8c0d-dd76da1f02a5"/>
    <ds:schemaRef ds:uri="230e9df3-be65-4c73-a93b-d1236ebd677e"/>
    <ds:schemaRef ds:uri="http://purl.org/dc/elements/1.1/"/>
    <ds:schemaRef ds:uri="http://purl.org/dc/dcmitype/"/>
    <ds:schemaRef ds:uri="http://schemas.microsoft.com/sharepoint/v3"/>
    <ds:schemaRef ds:uri="http://schemas.microsoft.com/office/2006/metadata/properties"/>
    <ds:schemaRef ds:uri="http://schemas.microsoft.com/office/infopath/2007/PartnerControls"/>
    <ds:schemaRef ds:uri="16c05727-aa75-4e4a-9b5f-8a80a1165891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471</Words>
  <Application>Microsoft Office PowerPoint</Application>
  <PresentationFormat>Custom</PresentationFormat>
  <Paragraphs>123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 Light</vt:lpstr>
      <vt:lpstr>Arial</vt:lpstr>
      <vt:lpstr>Calibri</vt:lpstr>
      <vt:lpstr>Walbaum Display</vt:lpstr>
      <vt:lpstr>BohoVogueVTI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David Wilson</cp:lastModifiedBy>
  <cp:revision>364</cp:revision>
  <dcterms:created xsi:type="dcterms:W3CDTF">2026-03-15T18:38:42Z</dcterms:created>
  <dcterms:modified xsi:type="dcterms:W3CDTF">2026-03-15T20:59:48Z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